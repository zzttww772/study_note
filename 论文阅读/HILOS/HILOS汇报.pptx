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2" Type="http://schemas.openxmlformats.org/officeDocument/2006/relationships/viewProps" Target="viewProps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9" Type="http://schemas.openxmlformats.org/officeDocument/2006/relationships/notesMaster" Target="notesMasters/notesMaster1.xml" /><Relationship Id="rId16" Type="http://schemas.openxmlformats.org/officeDocument/2006/relationships/slide" Target="slides/slide16.xml" /><Relationship Id="rId8" Type="http://schemas.openxmlformats.org/officeDocument/2006/relationships/slide" Target="slides/slide8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'1280px', height:'720px', background:'#FFFFFF', padding:0 }}&gt;&#10;  &lt;Box style={{ height:12, background:'#0E3F8C' }} /&gt;&#10;  &lt;Box style={{ display:'flex', flexDirection:'row', height:560 }}&gt;&#10;    &lt;Box style={{ width:720, padding:'54px 40px 30px 56px', display:'flex', flexDirection:'column', justifyContent:'center' }}&gt;&#10;      &lt;Text style={{ fontSize:18, color:'#3D7BD9', fontWeight:'bold', letterSpacing:3, marginBottom:20 }}&gt;ASPLOS '26 · 课程项目汇报 · 高级计算机系统结构&lt;/Text&gt;&#10;      &lt;Text style={{ fontSize:44, fontWeight:'bold', color:'#0E3F8C', lineHeight:1.28, marginBottom:22 }}&gt;&#10;        HILOS：面向长上下文 LLM&lt;br /&gt;离线推理的近存储处理方案&#10;      &lt;/Text&gt;&#10;      &lt;Text style={{ fontSize:21, color:'#4A5568', fontFamily:'&quot;Times New Roman&quot;, serif', lineHeight:1.45, marginBottom:22 }}&gt;&#10;        A Cost-Effective Near-Storage Processing Solution&lt;br /&gt;for Offline Inference of Long-Context LLMs&#10;      &lt;/Text&gt;&#10;      &lt;Box style={{ width:120, height:4, background:'#D9534F', marginBottom:20 }} /&gt;&#10;      &lt;Text style={{ fontSize:17, color:'#8B97A8', lineHeight:1.7 }}&gt;&#10;        首尔国立大学（SNU）&amp; POSTECH　|　Jinho Lee 等&lt;br /&gt;开源：github.com/hongsunjang/HILOS　|　2026 年秋&#10;      &lt;/Text&gt;&#10;    &lt;/Box&gt;&#10;    &lt;Box style={{ width:560, display:'flex', alignItems:'center', justifyContent:'center', background:'#F7F9FC' }}&gt;&#10;      &lt;svg width=&quot;470&quot; height=&quot;500&quot; viewBox=&quot;0 0 470 500&quot; xmlns=&quot;http://www.w3.org/2000/svg&quot; font-family=&quot;Microsoft YaHei, SimHei, sans-serif&quot;&gt;&#10;        &lt;defs&gt;&#10;          &lt;marker id=&quot;cblue&quot; markerWidth=&quot;10&quot; markerHeight=&quot;10&quot; refX=&quot;7&quot; refY=&quot;4&quot; orient=&quot;auto&quot;&gt;&lt;path d=&quot;M0,0 L8,4 L0,8 Z&quot; fill=&quot;#1E4FA8&quot;/&gt;&lt;/marker&gt;&#10;          &lt;marker id=&quot;cred&quot; markerWidth=&quot;10&quot; markerHeight=&quot;10&quot; refX=&quot;7&quot; refY=&quot;4&quot; orient=&quot;auto&quot;&gt;&lt;path d=&quot;M0,0 L8,4 L0,8 Z&quot; fill=&quot;#D9534F&quot;/&gt;&lt;/marker&gt;&#10;        &lt;/defs&gt;&#10;        &lt;rect x=&quot;18&quot; y=&quot;190&quot; width=&quot;150&quot; height=&quot;130&quot; rx=&quot;10&quot; fill=&quot;#E8EFF8&quot; stroke=&quot;#1E4FA8&quot; stroke-width=&quot;2.5&quot;/&gt;&#10;        &lt;text font-family=&quot;Microsoft YaHei, SimHei, sans-serif&quot; x=&quot;93&quot; y=&quot;232&quot; text-anchor=&quot;middle&quot; font-size=&quot;19&quot; font-weight=&quot;bold&quot; fill=&quot;#0E3F8C&quot;&gt;Host / GPU&lt;/text&gt;&#10;        &lt;text font-family=&quot;Microsoft YaHei, SimHei, sans-serif&quot; x=&quot;93&quot; y=&quot;260&quot; text-anchor=&quot;middle&quot; font-size=&quot;14&quot; fill=&quot;#4A5568&quot;&gt;权重 · 激活&lt;/text&gt;&#10;        &lt;text font-family=&quot;Microsoft YaHei, SimHei, sans-serif&quot; x=&quot;93&quot; y=&quot;286&quot; text-anchor=&quot;middle&quot; font-size=&quot;14&quot; fill=&quot;#4A5568&quot;&gt;主机 DRAM&lt;/text&gt;&#10;        &lt;rect x=&quot;286&quot; y=&quot;70&quot; width=&quot;128&quot; height=&quot;34&quot; rx=&quot;7&quot; fill=&quot;#0E3F8C&quot;/&gt;&#10;        &lt;text font-family=&quot;Microsoft YaHei, SimHei, sans-serif&quot; x=&quot;350&quot; y=&quot;93&quot; text-anchor=&quot;middle&quot; font-size=&quot;16&quot; font-weight=&quot;bold&quot; fill=&quot;#FFFFFF&quot;&gt;16 × SmartSSD&lt;/text&gt;&#10;        &lt;rect x=&quot;250&quot; y=&quot;120&quot; width=&quot;200&quot; height=&quot;290&quot; rx=&quot;12&quot; fill=&quot;#F7F9FC&quot; stroke=&quot;#3D7BD9&quot; stroke-width=&quot;1.5&quot; stroke-dasharray=&quot;6 4&quot;/&gt;&#10;        &lt;rect x=&quot;268&quot; y=&quot;148&quot; width=&quot;78&quot; height=&quot;54&quot; rx=&quot;6&quot; fill=&quot;#E8EFF8&quot; stroke=&quot;#3D7BD9&quot; stroke-width=&quot;2&quot;/&gt;&#10;        &lt;rect x=&quot;354&quot; y=&quot;148&quot; width=&quot;78&quot; height=&quot;54&quot; rx=&quot;6&quot; fill=&quot;#E8EFF8&quot; stroke=&quot;#3D7BD9&quot; stroke-width=&quot;2&quot;/&gt;&#10;        &lt;rect x=&quot;268&quot; y=&quot;214&quot; width=&quot;78&quot; height=&quot;54&quot; rx=&quot;6&quot; fill=&quot;#E8EFF8&quot; stroke=&quot;#3D7BD9&quot; stroke-width=&quot;2&quot;/&gt;&#10;        &lt;rect x=&quot;354&quot; y=&quot;214&quot; width=&quot;78&quot; height=&quot;54&quot; rx=&quot;6&quot; fill=&quot;#E8EFF8&quot; stroke=&quot;#3D7BD9&quot; stroke-width=&quot;2&quot;/&gt;&#10;        &lt;text font-family=&quot;Microsoft YaHei, SimHei, sans-serif&quot; x=&quot;350&quot; y=&quot;298&quot; text-anchor=&quot;middle&quot; font-size=&quot;13&quot; fill=&quot;#4A5568&quot;&gt;每块：SSD + 加速器&lt;/text&gt;&#10;        &lt;text font-family=&quot;Microsoft YaHei, SimHei, sans-serif&quot; x=&quot;350&quot; y=&quot;326&quot; text-anchor=&quot;middle&quot; font-size=&quot;13&quot; font-weight=&quot;bold&quot; fill=&quot;#1E4FA8&quot;&gt;注意力在盘内计算&lt;/text&gt;&#10;        &lt;text font-family=&quot;Microsoft YaHei, SimHei, sans-serif&quot; x=&quot;350&quot; y=&quot;352&quot; text-anchor=&quot;middle&quot; font-size=&quot;13&quot; fill=&quot;#1E4FA8&quot;&gt;KV 不出盘&lt;/text&gt;&#10;        &lt;line x1=&quot;170&quot; y1=&quot;238&quot; x2=&quot;280&quot; y2=&quot;238&quot; stroke=&quot;#1E4FA8&quot; stroke-width=&quot;2.5&quot; stroke-dasharray=&quot;6 4&quot; marker-end=&quot;url(#cblue)&quot;/&gt;&#10;        &lt;text font-family=&quot;Microsoft YaHei, SimHei, sans-serif&quot; x=&quot;225&quot; y=&quot;218&quot; text-anchor=&quot;middle&quot; font-size=&quot;12&quot; fill=&quot;#1E4FA8&quot;&gt;KV 读 / 写&lt;/text&gt;&#10;        &lt;line x1=&quot;280&quot; y1=&quot;292&quot; x2=&quot;172&quot; y2=&quot;292&quot; stroke=&quot;#D9534F&quot; stroke-width=&quot;2.5&quot; marker-end=&quot;url(#cred)&quot;/&gt;&#10;        &lt;text font-family=&quot;Microsoft YaHei, SimHei, sans-serif&quot; x=&quot;226&quot; y=&quot;274&quot; text-anchor=&quot;middle&quot; font-size=&quot;12&quot; fill=&quot;#D9534F&quot;&gt;仅回传结果&lt;/text&gt;&#10;      &lt;/svg&gt;&#10;    &lt;/Box&gt;&#10;  &lt;/Box&gt;&#10;  &lt;Box style={{ height:148, paddingLeft:56, paddingRight:56, display:'flex', flexDirection:'column', justifyContent:'center', borderTop:'1px solid #D6DCE5', gap:12 }}&gt;&#10;    &lt;Text style={{ fontSize:16, color:'#4A5568', lineHeight:1.6 }}&gt;核心思想：把内存密集的注意力计算下沉到存储设备附近，让 KV 缓存流量留在设备内部，显著降低跨系统互连的 I/O 开销。&lt;/Text&gt;&#10;    &lt;Text style={{ fontSize:15, color:'#0E3F8C', fontWeight:'bold' }}&gt;汇报人：张涛伟　|　学号：4191002601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33400" y="1038225"/>
            <a:ext cx="594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ASPLOS '26 · </a:t>
            </a:r>
            <a:r>
              <a:rPr lang="zh-CN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课程项目汇报</a:t>
            </a: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高级计算机系统结构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438275"/>
            <a:ext cx="5943600" cy="1295400"/>
          </a:xfrm>
          <a:prstGeom prst="rect"/>
        </p:spPr>
        <p:txBody>
          <a:bodyPr wrap="none" lIns="0" tIns="0" rIns="0" bIns="0"/>
          <a:p>
            <a:pPr>
              <a:lnSpc>
                <a:spcPct val="128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HILOS</a:t>
            </a: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：面向长上下文</a:t>
            </a: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  <a:p>
            <a:pPr>
              <a:lnSpc>
                <a:spcPct val="128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离线推理的近存储处理方案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33400" y="2943225"/>
            <a:ext cx="59436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75">
                <a:solidFill>
                  <a:srgbClr val="4A5568"/>
                </a:solidFill>
                <a:latin typeface="Times New Roman"/>
                <a:ea typeface="Times New Roman"/>
              </a:rPr>
              <a:t>A Cost-Effective Near-Storage Processing Solution</a:t>
            </a:r>
            <a:endParaRPr/>
          </a:p>
          <a:p>
            <a:pPr>
              <a:lnSpc>
                <a:spcPct val="145000"/>
              </a:lnSpc>
            </a:pPr>
            <a:r>
              <a:rPr lang="en-US" sz="1575">
                <a:solidFill>
                  <a:srgbClr val="4A5568"/>
                </a:solidFill>
                <a:latin typeface="Times New Roman"/>
                <a:ea typeface="Times New Roman"/>
              </a:rPr>
              <a:t>for Offline Inference of Long-Context LLMs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33400" y="3857625"/>
            <a:ext cx="1143000" cy="381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33400" y="4086225"/>
            <a:ext cx="59436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首尔国立大学（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SNU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&amp; POSTECH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Jinho Lee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等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开源：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github.com/hongsunjang/HILOS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|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年秋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0" y="114300"/>
            <a:ext cx="5334000" cy="5334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286625" y="400050"/>
            <a:ext cx="4476750" cy="4762500"/>
          </a:xfrm>
          <a:prstGeom prst="rect">
            <a:avLst/>
          </a:prstGeom>
          <a:ln/>
        </p:spPr>
      </p:pic>
      <p:sp>
        <p:nvSpPr>
          <p:cNvPr id="11" name=""/>
          <p:cNvSpPr/>
          <p:nvPr/>
        </p:nvSpPr>
        <p:spPr>
          <a:xfrm rot="0" flipH="0" flipV="0">
            <a:off x="0" y="5448300"/>
            <a:ext cx="12192000" cy="1409700"/>
          </a:xfrm>
          <a:custGeom>
            <a:pathLst>
              <a:path w="1280" h="148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33400" y="5867400"/>
            <a:ext cx="1112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核心思想：把内存密集的注意力计算下沉到存储设备附近，让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缓存流量留在设备内部，显著降低跨系统互连的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I/O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开销。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33400" y="6276975"/>
            <a:ext cx="1112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汇报人：张涛伟　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|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　学号：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419100260130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'1280px', height:'720px', background:'#FFFFFF', padding:0 }}&gt;&#10;  &lt;Box style={{ paddingTop:46, paddingLeft:56, paddingRight:56 }}&gt;&#10;    &lt;Text style={{ fontSize:16, color:'#3D7BD9', fontWeight:'bold', letterSpacing:4 }}&gt;目录 · CONTENTS&lt;/Text&gt;&#10;  &lt;/Box&gt;&#10;  &lt;Box style={{ paddingLeft:56, paddingRight:56, paddingTop:30, paddingBottom:36, display:'flex', flexDirection:'column' }}&gt;&#10;    {[&#10;      { n:'01', t:'研究背景与动机', d:'离线推理的内存墙、KV Cache I/O 瓶颈，以及为何转向近存储处理（NSP）' },&#10;      { n:'02', t:'HILOS 系统设计', d:'注意力近存储 ANS、协同 X-cache、延迟 KV 回写三项核心优化' },&#10;      { n:'03', t:'注意力加速器', d:'资源受限下的时间架构、两遍 Softmax 与带原位转置的 GEMV' },&#10;      { n:'04', t:'评估 · 讨论 · 结论', d:'真实系统实验结果、对 ISP / CXL 的适用性，以及总结' },&#10;    ].map((it, i) =&gt; (&#10;      &lt;Box key={i} style={{ display:'flex', flexDirection:'row', alignItems:'center', gap:30, padding:'24px 0', borderBottom: i &lt; 3 ? '1px solid #E5E7EB' : 'none' }}&gt;&#10;        &lt;Text style={{ fontSize:56, fontWeight:'bold', color:'#1E4FA8', width:96 }}&gt;{it.n}&lt;/Text&gt;&#10;        &lt;Box style={{ flex:1 }}&gt;&#10;          &lt;Text style={{ fontSize:28, fontWeight:'bold', color:'#0E3F8C' }}&gt;{it.t}&lt;/Text&gt;&#10;          &lt;Text style={{ fontSize:18, color:'#4A5568', marginTop:8 }}&gt;{it.d}&lt;/Text&gt;&#10;        &lt;/Box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" y="438150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300">
                <a:solidFill>
                  <a:srgbClr val="3D7BD9"/>
                </a:solidFill>
                <a:latin typeface="Microsoft YaHei"/>
                <a:ea typeface="Microsoft YaHei"/>
              </a:rPr>
              <a:t>目录</a:t>
            </a:r>
            <a:r>
              <a:rPr lang="en-US" sz="1200" b="1" spc="30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CONTENTS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33400" y="914400"/>
            <a:ext cx="11125200" cy="1123950"/>
          </a:xfrm>
          <a:custGeom>
            <a:pathLst>
              <a:path w="1168" h="118">
                <a:moveTo>
                  <a:pt x="0" y="117"/>
                </a:moveTo>
                <a:lnTo>
                  <a:pt x="1168" y="117"/>
                </a:lnTo>
                <a:lnTo>
                  <a:pt x="1168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" y="1143000"/>
            <a:ext cx="914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733550" y="1162050"/>
            <a:ext cx="9925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733550" y="1562100"/>
            <a:ext cx="992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离线推理的内存墙、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KV Cache I/O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瓶颈，以及为何转向近存储处理（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NSP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33400" y="2028825"/>
            <a:ext cx="11125200" cy="1123950"/>
          </a:xfrm>
          <a:custGeom>
            <a:pathLst>
              <a:path w="1168" h="118">
                <a:moveTo>
                  <a:pt x="0" y="117"/>
                </a:moveTo>
                <a:lnTo>
                  <a:pt x="1168" y="117"/>
                </a:lnTo>
                <a:lnTo>
                  <a:pt x="1168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3400" y="2257425"/>
            <a:ext cx="914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733550" y="2276475"/>
            <a:ext cx="9925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733550" y="2676525"/>
            <a:ext cx="992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注意力近存储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ANS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、协同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X-cache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、延迟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回写三项核心优化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33400" y="3143250"/>
            <a:ext cx="11125200" cy="1123950"/>
          </a:xfrm>
          <a:custGeom>
            <a:pathLst>
              <a:path w="1168" h="118">
                <a:moveTo>
                  <a:pt x="0" y="117"/>
                </a:moveTo>
                <a:lnTo>
                  <a:pt x="1168" y="117"/>
                </a:lnTo>
                <a:lnTo>
                  <a:pt x="1168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33400" y="3371850"/>
            <a:ext cx="914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733550" y="3390900"/>
            <a:ext cx="9925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注意力加速器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733550" y="3790950"/>
            <a:ext cx="992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资源受限下的时间架构、两遍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Softmax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与带原位转置的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GEMV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3400" y="4486275"/>
            <a:ext cx="914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733550" y="4505325"/>
            <a:ext cx="99250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评估</a:t>
            </a:r>
            <a:r>
              <a:rPr lang="en-US" sz="21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讨论</a:t>
            </a:r>
            <a:r>
              <a:rPr lang="en-US" sz="21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733550" y="4905375"/>
            <a:ext cx="992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真实系统实验结果、对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ISP / CXL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的适用性，以及总结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width:'1280px', height:'720px', background:'#F7F9FC', padding:0 }}&gt;&#10;  &lt;Box style={{ display:'flex', flexDirection:'row', height:'100%' }}&gt;&#10;    &lt;Box style={{ width:340, background:'#0E3F8C', display:'flex', flexDirection:'column', justifyContent:'center', alignItems:'center' }}&gt;&#10;      &lt;Text style={{ fontSize:200, fontWeight:'bold', color:'#FFFFFF' }}&gt;01&lt;/Text&gt;&#10;    &lt;/Box&gt;&#10;    &lt;Box style={{ flex:1, padding:'90px 64px', display:'flex', flexDirection:'column', justifyContent:'center' }}&gt;&#10;      &lt;Text style={{ fontSize:18, color:'#3D7BD9', fontWeight:'bold', letterSpacing:3 }}&gt;CHAPTER 01&lt;/Text&gt;&#10;      &lt;Text style={{ fontSize:48, fontWeight:'bold', color:'#0E3F8C', marginBottom:30, lineHeight:1.3 }}&gt;研究背景与动机&lt;/Text&gt;&#10;      &lt;Box style={{ borderLeft:'4px solid #D9534F', paddingLeft:22, display:'flex', flexDirection:'column', gap:18 }}&gt;&#10;        &lt;Text style={{ fontSize:22, color:'#1A2230' }}&gt;· 长上下文离线推理面临巨大内存墙&lt;/Text&gt;&#10;        &lt;Text style={{ fontSize:22, color:'#1A2230' }}&gt;· KV Cache I/O 占端到端时间 60% 以上&lt;/Text&gt;&#10;        &lt;Text style={{ fontSize:22, color:'#1A2230' }}&gt;· 近存储处理（NSP）提供破局思路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767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848100" y="2266950"/>
            <a:ext cx="773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848100" y="2476500"/>
            <a:ext cx="77343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848100" y="3476625"/>
            <a:ext cx="7772400" cy="1114425"/>
          </a:xfrm>
          <a:custGeom>
            <a:pathLst>
              <a:path w="816" h="117">
                <a:moveTo>
                  <a:pt x="0" y="0"/>
                </a:moveTo>
                <a:lnTo>
                  <a:pt x="4" y="0"/>
                </a:lnTo>
                <a:lnTo>
                  <a:pt x="4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095750" y="347662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长上下文离线推理面临巨大内存墙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095750" y="3905250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KV Cache I/O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占端到端时间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60%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以上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095750" y="433387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近存储处理（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NSP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）提供破局思路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8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1 · 研究背景与动机&lt;/Text&gt;&#10;    &lt;Text style={{ fontSize:31, fontWeight:'bold', color:'#1E4FA8' }}&gt;离线推理的内存挑战&lt;/Text&gt;&#10;  &lt;/Box&gt;&#10;  &lt;Box style={{ height:574, paddingLeft:48, paddingRight:48, paddingTop:18, display:'flex', flexDirection:'row', gap:32 }}&gt;&#10;    &lt;Box style={{ width:560, display:'flex', flexDirection:'column', alignItems:'center', justifyContent:'center', gap:8 }}&gt;&#10;      &lt;Box style={{ width:520, height:420, background:'#F7FAFE', border:'1px solid #E2E8F2', borderRadius:12, display:'flex', alignItems:'center', justifyContent:'center' }}&gt;&#10;        &lt;svg viewBox=&quot;0 0 520 420&quot; width=&quot;520&quot; height=&quot;420&quot; xmlns=&quot;http://www.w3.org/2000/svg&quot; font-family=&quot;Microsoft YaHei, SimHei, sans-serif&quot;&gt;&#10;          &lt;defs&gt;&#10;            &lt;marker id=&quot;p4red&quot; markerWidth=&quot;11&quot; markerHeight=&quot;11&quot; refX=&quot;8&quot; refY=&quot;4&quot; orient=&quot;auto&quot;&gt;&lt;path d=&quot;M0,0 L9,4 L0,8 Z&quot; fill=&quot;#D9534F&quot;/&gt;&lt;/marker&gt;&#10;            &lt;marker id=&quot;p4blue&quot; markerWidth=&quot;11&quot; markerHeight=&quot;11&quot; refX=&quot;8&quot; refY=&quot;4&quot; orient=&quot;auto&quot;&gt;&lt;path d=&quot;M0,0 L9,4 L0,8 Z&quot; fill=&quot;#1E4FA8&quot;/&gt;&lt;/marker&gt;&#10;          &lt;/defs&gt;&#10;          &lt;rect x=&quot;180&quot; y=&quot;14&quot; width=&quot;160&quot; height=&quot;40&quot; rx=&quot;10&quot; fill=&quot;#E8EFF8&quot; stroke=&quot;#1E4FA8&quot; stroke-width=&quot;2&quot;/&gt;&#10;          &lt;text font-family=&quot;Microsoft YaHei, SimHei, sans-serif&quot; x=&quot;260&quot; y=&quot;40&quot; text-anchor=&quot;middle&quot; font-size=&quot;17&quot; fill=&quot;#0E3F8C&quot; font-weight=&quot;bold&quot;&gt;长上下文输入&lt;/text&gt;&#10;          &lt;line x1=&quot;260&quot; y1=&quot;54&quot; x2=&quot;260&quot; y2=&quot;96&quot; stroke=&quot;#1E4FA8&quot; stroke-width=&quot;3&quot; marker-end=&quot;url(#p4blue)&quot;/&gt;&#10;          &lt;rect x=&quot;36&quot; y=&quot;108&quot; width=&quot;180&quot; height=&quot;118&quot; rx=&quot;14&quot; fill=&quot;#1E4FA8&quot;/&gt;&#10;          &lt;text font-family=&quot;Microsoft YaHei, SimHei, sans-serif&quot; x=&quot;126&quot; y=&quot;150&quot; text-anchor=&quot;middle&quot; font-size=&quot;24&quot; fill=&quot;#FFFFFF&quot; font-weight=&quot;bold&quot;&gt;GPU&lt;/text&gt;&#10;          &lt;text font-family=&quot;Microsoft YaHei, SimHei, sans-serif&quot; x=&quot;126&quot; y=&quot;178&quot; text-anchor=&quot;middle&quot; font-size=&quot;15&quot; fill=&quot;#DCE8FB&quot;&gt;计算单元&lt;/text&gt;&#10;          &lt;text font-family=&quot;Microsoft YaHei, SimHei, sans-serif&quot; x=&quot;126&quot; y=&quot;202&quot; text-anchor=&quot;middle&quot; font-size=&quot;14&quot; fill=&quot;#9DB8E8&quot;&gt;权重 + 激活&lt;/text&gt;&#10;          &lt;rect x=&quot;304&quot; y=&quot;108&quot; width=&quot;180&quot; height=&quot;118&quot; rx=&quot;14&quot; fill=&quot;#6B7A8F&quot;/&gt;&#10;          &lt;text font-family=&quot;Microsoft YaHei, SimHei, sans-serif&quot; x=&quot;394&quot; y=&quot;150&quot; text-anchor=&quot;middle&quot; font-size=&quot;24&quot; fill=&quot;#FFFFFF&quot; font-weight=&quot;bold&quot;&gt;SSD&lt;/text&gt;&#10;          &lt;text font-family=&quot;Microsoft YaHei, SimHei, sans-serif&quot; x=&quot;394&quot; y=&quot;178&quot; text-anchor=&quot;middle&quot; font-size=&quot;15&quot; fill=&quot;#E3E9F0&quot;&gt;KV Cache&lt;/text&gt;&#10;          &lt;text font-family=&quot;Microsoft YaHei, SimHei, sans-serif&quot; x=&quot;394&quot; y=&quot;202&quot; text-anchor=&quot;middle&quot; font-size=&quot;16&quot; fill=&quot;#FFD9D2&quot; font-weight=&quot;bold&quot;&gt;TB 级&lt;/text&gt;&#10;          &lt;line x1=&quot;222&quot; y1=&quot;150&quot; x2=&quot;300&quot; y2=&quot;150&quot; stroke=&quot;#D9534F&quot; stroke-width=&quot;4&quot; marker-end=&quot;url(#p4red)&quot;/&gt;&#10;          &lt;line x1=&quot;300&quot; y1=&quot;178&quot; x2=&quot;222&quot; y2=&quot;178&quot; stroke=&quot;#D9534F&quot; stroke-width=&quot;4&quot; marker-end=&quot;url(#p4red)&quot;/&gt;&#10;          &lt;text font-family=&quot;Microsoft YaHei, SimHei, sans-serif&quot; x=&quot;261&quot; y=&quot;131&quot; text-anchor=&quot;middle&quot; font-size=&quot;13&quot; fill=&quot;#D9534F&quot; font-weight=&quot;bold&quot;&gt;PCIe 反复搬运&lt;/text&gt;&#10;          &lt;rect x=&quot;36&quot; y=&quot;246&quot; width=&quot;180&quot; height=&quot;36&quot; rx=&quot;8&quot; fill=&quot;#FBE9E7&quot; stroke=&quot;#D9534F&quot; stroke-width=&quot;1.5&quot;/&gt;&#10;          &lt;text font-family=&quot;Microsoft YaHei, SimHei, sans-serif&quot; x=&quot;126&quot; y=&quot;269&quot; text-anchor=&quot;middle&quot; font-size=&quot;15&quot; fill=&quot;#C0392B&quot; font-weight=&quot;bold&quot;&gt;GPU：在等 KV 数据&lt;/text&gt;&#10;          &lt;rect x=&quot;36&quot; y=&quot;306&quot; width=&quot;448&quot; height=&quot;92&quot; rx=&quot;12&quot; fill=&quot;#FBE9E7&quot; stroke=&quot;#D9534F&quot; stroke-width=&quot;2&quot;/&gt;&#10;          &lt;text font-family=&quot;Microsoft YaHei, SimHei, sans-serif&quot; x=&quot;260&quot; y=&quot;340&quot; text-anchor=&quot;middle&quot; font-size=&quot;17&quot; fill=&quot;#C0392B&quot; font-weight=&quot;bold&quot;&gt;核心矛盾&lt;/text&gt;&#10;          &lt;text font-family=&quot;Microsoft YaHei, SimHei, sans-serif&quot; x=&quot;260&quot; y=&quot;366&quot; text-anchor=&quot;middle&quot; font-size=&quot;15&quot; fill=&quot;#7B241C&quot;&gt;昂贵 GPU 大量时间用于「搬运 / 等待」数据&lt;/text&gt;&#10;          &lt;text font-family=&quot;Microsoft YaHei, SimHei, sans-serif&quot; x=&quot;260&quot; y=&quot;388&quot; text-anchor=&quot;middle&quot; font-size=&quot;15&quot; fill=&quot;#7B241C&quot;&gt;而非做计算 —— 算力被「内存墙」拖垮&lt;/text&gt;&#10;        &lt;/svg&gt;&#10;      &lt;/Box&gt;&#10;      &lt;Text style={{ fontSize:12, color:'#8B97A8', textAlign:'center' }}&gt;示意图：传统卸载方案中 GPU 与 SSD 之间的 KV 反复搬运&lt;/Text&gt;&#10;    &lt;/Box&gt;&#10;    &lt;Box style={{ flex:1, display:'flex', flexDirection:'column', justifyContent:'center', gap:20 }}&gt;&#10;      &lt;Text style={{ fontSize:23, fontWeight:'bold', color:'#0E3F8C' }}&gt;解码阶段本质是「内存受限」&lt;/Text&gt;&#10;      &lt;Text style={{ fontSize:18, color:'#1A2230', lineHeight:1.55 }}&gt;权重在主机内存与 GPU 之间往返，KV Cache 常驻 SSD —— 昂贵的计算单元被数据搬运拖住。&lt;/Text&gt;&#10;      &lt;Text style={{ fontSize:23, fontWeight:'bold', color:'#0E3F8C' }}&gt;单 GPU 装不下长序列&lt;/Text&gt;&#10;      &lt;Text style={{ fontSize:18, color:'#1A2230', lineHeight:1.55 }}&gt;大模型权重 + KV Cache 随上下文长度增长，往往超出单卡内存容量。&lt;/Text&gt;&#10;      &lt;Box style={{ background:'#F0F5FC', borderLeft:'4px solid #D9534F', padding:'14px 18px', borderRadius:6 }}&gt;&#10;        &lt;Text style={{ fontSize:18, color:'#1A2230', lineHeight:1.5 }}&gt;长上下文 -&gt; KV Cache 达 &lt;span style={{ fontWeight:'bold', color:'#D9534F' }}&gt;TB 级&lt;/span&gt; -&gt; 堆多 GPU 既昂贵又不经济。&lt;/Text&gt;&#10;      &lt;/Box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离线推理的内存挑战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47700" y="1571625"/>
            <a:ext cx="4953000" cy="4000500"/>
          </a:xfrm>
          <a:prstGeom prst="roundRect">
            <a:avLst>
              <a:gd name="adj" fmla="val 2857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20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47700" y="1571625"/>
            <a:ext cx="4953000" cy="4000500"/>
          </a:xfrm>
          <a:prstGeom prst="rect">
            <a:avLst/>
          </a:prstGeom>
          <a:ln/>
        </p:spPr>
      </p:pic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628775" y="5648325"/>
            <a:ext cx="29908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示意图：传统卸载方案中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SSD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之间的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反复搬运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0" y="2257425"/>
            <a:ext cx="5638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解码阶段本质是「内存受限」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0" y="2714625"/>
            <a:ext cx="56388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权重在主机内存与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之间往返，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KV Cache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常驻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SSD ——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昂贵的计算单元被数据搬运拖住。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0" y="3543300"/>
            <a:ext cx="5638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单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装不下长序列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0" y="4000500"/>
            <a:ext cx="56388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大模型权重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KV Cache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随上下文长度增长，往往超出单卡内存容量。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134100" y="4514850"/>
            <a:ext cx="5638800" cy="581025"/>
          </a:xfrm>
          <a:prstGeom prst="roundRect">
            <a:avLst>
              <a:gd name="adj" fmla="val 983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6134100" y="4514850"/>
            <a:ext cx="5638800" cy="581025"/>
          </a:xfrm>
          <a:custGeom>
            <a:pathLst>
              <a:path w="592" h="6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9"/>
                </a:lnTo>
                <a:cubicBezTo>
                  <a:pt x="4" y="60"/>
                  <a:pt x="5" y="61"/>
                  <a:pt x="6" y="61"/>
                </a:cubicBezTo>
                <a:cubicBezTo>
                  <a:pt x="3" y="61"/>
                  <a:pt x="0" y="58"/>
                  <a:pt x="0" y="5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05550" y="4648200"/>
            <a:ext cx="5257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长上下文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-&gt; KV Cache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TB 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级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堆多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既昂贵又不经济。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16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D9534F', fontWeight:'bold', letterSpacing:2 }}&gt;01 · 核心问题&lt;/Text&gt;&#10;    &lt;Text style={{ fontSize:31, fontWeight:'bold', color:'#1E4FA8' }}&gt;问题：KV Cache I/O 占 60%+ 时间&lt;/Text&gt;&#10;  &lt;/Box&gt;&#10;  &lt;Box style={{ height:574, paddingLeft:48, paddingRight:48, paddingTop:18, display:'flex', flexDirection:'row', gap:30, alignItems:'center' }}&gt;&#10;    &lt;Box style={{ width:290, display:'flex', flexDirection:'column', alignItems:'center', justifyContent:'center', gap:8 }}&gt;&#10;      &lt;Text style={{ fontSize:128, fontWeight:'bold', color:'#D9534F', lineHeight:1 }}&gt;60%&lt;/Text&gt;&#10;      &lt;Text style={{ fontSize:21, fontWeight:'bold', color:'#0E3F8C', textAlign:'center', lineHeight:1.4 }}&gt;以上时间花在搬运 KV Cache&lt;/Text&gt;&#10;    &lt;/Box&gt;&#10;    &lt;Box style={{ flex:1, display:'flex', flexDirection:'column', gap:12, justifyContent:'center' }}&gt;&#10;      &lt;Image src=&quot;hilos_src/assets/fig02.png&quot; style={{ width:780, height:354, objectFit:'contain' }} /&gt;&#10;      &lt;Text style={{ fontSize:12, color:'#8B97A8' }}&gt;图 2：175B 模型的动机实验（a 内存占用 / b 执行时间构成，A100 实测）&lt;/Text&gt;&#10;      &lt;Text style={{ fontSize:18, color:'#1A2230', lineHeight:1.55 }}&gt;随着批大小与上下文变长，&lt;span style={{ fontWeight:'bold', color:'#D9534F' }}&gt;传输 KV Cache 消耗超过 60% 总执行时间&lt;/span&gt;；权重占比缩小后，批处理本可改善的空间被数据搬运吞掉。&lt;/Text&gt;&#10;      &lt;Box style={{ background:'#F0F5FC', borderLeft:'4px solid #1E4FA8', padding:'12px 16px', borderRadius:6 }}&gt;&#10;        &lt;Text style={{ fontSize:17, color:'#1A2230', lineHeight:1.45 }}&gt;瓶颈不在计算，而在 I/O —— 这正是近存储处理要打的靶点。&lt;/Text&gt;&#10;      &lt;/Box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D9534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125" b="1" spc="150">
                <a:solidFill>
                  <a:srgbClr val="D9534F"/>
                </a:solidFill>
                <a:latin typeface="Microsoft YaHei"/>
                <a:ea typeface="Microsoft YaHei"/>
              </a:rPr>
              <a:t>核心问题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问题：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KV Cache I/O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占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60%+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14350" y="2733675"/>
            <a:ext cx="264795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D9534F"/>
                </a:solidFill>
                <a:latin typeface="Microsoft YaHei"/>
                <a:ea typeface="Microsoft YaHei"/>
              </a:rPr>
              <a:t>60%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42925" y="4276725"/>
            <a:ext cx="26003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以上时间花在搬运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KV Cache</a:t>
            </a:r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 r:embed="rId1"/>
          <a:srcRect l="40" t="0" r="40" b="0"/>
          <a:stretch>
            <a:fillRect/>
          </a:stretch>
        </p:blipFill>
        <p:spPr>
          <a:xfrm rot="0" flipH="0" flipV="0">
            <a:off x="3505200" y="1171575"/>
            <a:ext cx="7429500" cy="337185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505200" y="4657725"/>
            <a:ext cx="822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175B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模型的动机实验（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内存占用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b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执行时间构成，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A100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实测）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505200" y="4914900"/>
            <a:ext cx="82296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随着批大小与上下文变长，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传输</a:t>
            </a: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KV Cache 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消耗超过</a:t>
            </a:r>
            <a:r>
              <a:rPr lang="en-US" sz="1350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60% </a:t>
            </a: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总执行时间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；权重占比缩小后，批处理本可改善的空间被数据搬运吞掉。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543300" y="5667375"/>
            <a:ext cx="82296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3543300" y="5667375"/>
            <a:ext cx="8229600" cy="514350"/>
          </a:xfrm>
          <a:custGeom>
            <a:pathLst>
              <a:path w="864" h="5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2"/>
                </a:lnTo>
                <a:cubicBezTo>
                  <a:pt x="4" y="53"/>
                  <a:pt x="5" y="54"/>
                  <a:pt x="6" y="54"/>
                </a:cubicBezTo>
                <a:cubicBezTo>
                  <a:pt x="3" y="54"/>
                  <a:pt x="0" y="51"/>
                  <a:pt x="0" y="4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695700" y="5781675"/>
            <a:ext cx="78867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瓶颈不在计算，而在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I/O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这正是近存储处理要打的靶点。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2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1 · 研究背景与动机&lt;/Text&gt;&#10;    &lt;Text style={{ fontSize:31, fontWeight:'bold', color:'#1E4FA8' }}&gt;近存储处理（NSP）的三大优势&lt;/Text&gt;&#10;  &lt;/Box&gt;&#10;  &lt;Box style={{ height:574, paddingLeft:48, paddingRight:48, paddingTop:16, display:'flex', flexDirection:'row', gap:28 }}&gt;&#10;    &lt;Box style={{ width:680, display:'flex', flexDirection:'column', alignItems:'center', justifyContent:'center', gap:8 }}&gt;&#10;      &lt;Box style={{ width:620, height:400, background:'#F7FAFE', border:'1px solid #E2E8F2', borderRadius:12, display:'flex', alignItems:'center', justifyContent:'center' }}&gt;&#10;        &lt;svg viewBox=&quot;0 0 620 400&quot; width=&quot;620&quot; height=&quot;400&quot; xmlns=&quot;http://www.w3.org/2000/svg&quot;&gt;&#10;          &lt;defs&gt;&#10;            &lt;marker id=&quot;p6red&quot; markerWidth=&quot;11&quot; markerHeight=&quot;11&quot; refX=&quot;8&quot; refY=&quot;4&quot; orient=&quot;auto&quot;&gt;&lt;path d=&quot;M0,0 L9,4 L0,8 Z&quot; fill=&quot;#D9534F&quot;/&gt;&lt;/marker&gt;&#10;            &lt;marker id=&quot;p6green&quot; markerWidth=&quot;11&quot; markerHeight=&quot;11&quot; refX=&quot;8&quot; refY=&quot;4&quot; orient=&quot;auto&quot;&gt;&lt;path d=&quot;M0,0 L9,4 L0,8 Z&quot; fill=&quot;#2E8B57&quot;/&gt;&lt;/marker&gt;&#10;          &lt;/defs&gt;&#10;          &lt;text font-family=&quot;Microsoft YaHei, SimHei, sans-serif&quot; x=&quot;60&quot; y=&quot;34&quot; font-size=&quot;18&quot; fill=&quot;#C0392B&quot; font-weight=&quot;bold&quot;&gt;传统方案&lt;/text&gt;&#10;          &lt;rect x=&quot;30&quot; y=&quot;50&quot; width=&quot;120&quot; height=&quot;60&quot; rx=&quot;10&quot; fill=&quot;#6B7A8F&quot;/&gt;&lt;text font-family=&quot;Microsoft YaHei, SimHei, sans-serif&quot; x=&quot;90&quot; y=&quot;86&quot; text-anchor=&quot;middle&quot; font-size=&quot;16&quot; fill=&quot;#FFFFFF&quot; font-weight=&quot;bold&quot;&gt;SSD&lt;/text&gt;&#10;          &lt;line x1=&quot;150&quot; y1=&quot;80&quot; x2=&quot;228&quot; y2=&quot;80&quot; stroke=&quot;#D9534F&quot; stroke-width=&quot;4&quot; marker-end=&quot;url(#p6red)&quot;/&gt;&#10;          &lt;rect x=&quot;230&quot; y=&quot;50&quot; width=&quot;120&quot; height=&quot;60&quot; rx=&quot;10&quot; fill=&quot;#1E4FA8&quot;/&gt;&lt;text font-family=&quot;Microsoft YaHei, SimHei, sans-serif&quot; x=&quot;290&quot; y=&quot;86&quot; text-anchor=&quot;middle&quot; font-size=&quot;16&quot; fill=&quot;#FFFFFF&quot; font-weight=&quot;bold&quot;&gt;主机 CPU&lt;/text&gt;&#10;          &lt;line x1=&quot;350&quot; y1=&quot;80&quot; x2=&quot;428&quot; y2=&quot;80&quot; stroke=&quot;#D9534F&quot; stroke-width=&quot;4&quot; marker-end=&quot;url(#p6red)&quot;/&gt;&#10;          &lt;rect x=&quot;430&quot; y=&quot;50&quot; width=&quot;120&quot; height=&quot;60&quot; rx=&quot;10&quot; fill=&quot;#1E4FA8&quot;/&gt;&lt;text font-family=&quot;Microsoft YaHei, SimHei, sans-serif&quot; x=&quot;490&quot; y=&quot;86&quot; text-anchor=&quot;middle&quot; font-size=&quot;16&quot; fill=&quot;#FFFFFF&quot; font-weight=&quot;bold&quot;&gt;GPU&lt;/text&gt;&#10;          &lt;text font-family=&quot;Microsoft YaHei, SimHei, sans-serif&quot; x=&quot;290&quot; y=&quot;132&quot; text-anchor=&quot;middle&quot; font-size=&quot;14&quot; fill=&quot;#C0392B&quot;&gt;数据多次跨 PCIe 往返 -&gt; 慢且昂贵&lt;/text&gt;&#10;          &lt;text font-family=&quot;Microsoft YaHei, SimHei, sans-serif&quot; x=&quot;290&quot; y=&quot;158&quot; text-anchor=&quot;middle&quot; font-size=&quot;16&quot; fill=&quot;#C0392B&quot; font-weight=&quot;bold&quot;&gt;计算与数据分离&lt;/text&gt;&#10;          &lt;text font-family=&quot;Microsoft YaHei, SimHei, sans-serif&quot; x=&quot;60&quot; y=&quot;226&quot; font-size=&quot;18&quot; fill=&quot;#1E7A46&quot; font-weight=&quot;bold&quot;&gt;近存储处理（NSP）&lt;/text&gt;&#10;          &lt;rect x=&quot;20&quot; y=&quot;242&quot; width=&quot;190&quot; height=&quot;82&quot; rx=&quot;12&quot; fill=&quot;#2E8B57&quot;/&gt;&lt;text font-family=&quot;Microsoft YaHei, SimHei, sans-serif&quot; x=&quot;115&quot; y=&quot;278&quot; text-anchor=&quot;middle&quot; font-size=&quot;17&quot; fill=&quot;#FFFFFF&quot; font-weight=&quot;bold&quot;&gt;SmartSSD&lt;/text&gt;&lt;text font-family=&quot;Microsoft YaHei, SimHei, sans-serif&quot; x=&quot;115&quot; y=&quot;302&quot; text-anchor=&quot;middle&quot; font-size=&quot;14&quot; fill=&quot;#D6F0E0&quot;&gt;盘上 FPGA 就近算&lt;/text&gt;&#10;          &lt;line x1=&quot;210&quot; y1=&quot;283&quot; x2=&quot;408&quot; y2=&quot;283&quot; stroke=&quot;#2E8B57&quot; stroke-width=&quot;4&quot; marker-end=&quot;url(#p6green)&quot;/&gt;&#10;          &lt;rect x=&quot;410&quot; y=&quot;242&quot; width=&quot;130&quot; height=&quot;82&quot; rx=&quot;10&quot; fill=&quot;#E8EFF8&quot; stroke=&quot;#1E4FA8&quot; stroke-width=&quot;2&quot;/&gt;&lt;text font-family=&quot;Microsoft YaHei, SimHei, sans-serif&quot; x=&quot;475&quot; y=&quot;283&quot; text-anchor=&quot;middle&quot; font-size=&quot;16&quot; fill=&quot;#0E3F8C&quot; font-weight=&quot;bold&quot;&gt;主机&lt;/text&gt;&lt;text font-family=&quot;Microsoft YaHei, SimHei, sans-serif&quot; x=&quot;475&quot; y=&quot;305&quot; text-anchor=&quot;middle&quot; font-size=&quot;13&quot; fill=&quot;#1A2230&quot;&gt;仅调度&lt;/text&gt;&#10;          &lt;text font-family=&quot;Microsoft YaHei, SimHei, sans-serif&quot; x=&quot;290&quot; y=&quot;346&quot; text-anchor=&quot;middle&quot; font-size=&quot;14&quot; fill=&quot;#1E7A46&quot;&gt;计算在盘上完成，数据不出盘&lt;/text&gt;&#10;          &lt;text font-family=&quot;Microsoft YaHei, SimHei, sans-serif&quot; x=&quot;290&quot; y=&quot;372&quot; text-anchor=&quot;middle&quot; font-size=&quot;16&quot; fill=&quot;#1E7A46&quot; font-weight=&quot;bold&quot;&gt;流量骤降、更省&lt;/text&gt;&#10;          &lt;text font-family=&quot;Microsoft YaHei, SimHei, sans-serif&quot; x=&quot;310&quot; y=&quot;392&quot; text-anchor=&quot;middle&quot; font-size=&quot;13&quot; fill=&quot;#4A5568&quot;&gt;核心：把「搬运数据去算」变成「在数据旁算」&lt;/text&gt;&#10;        &lt;/svg&gt;&#10;      &lt;/Box&gt;&#10;      &lt;Text style={{ fontSize:12, color:'#8B97A8', textAlign:'center' }}&gt;示意图：传统 PCIe 拓扑 vs 近存储处理（NSP）&lt;/Text&gt;&#10;    &lt;/Box&gt;&#10;    &lt;Box style={{ flex:1, display:'flex', flexDirection:'column', gap:12, justifyContent:'center' }}&gt;&#10;      {[&#10;        { t:'TB 级容量', d:'本地存储可容纳远超主机内存的 KV Cache，无需溢出到慢速层。' },&#10;        { t:'带宽随设备扩展', d:'多块 NSP 设备并行，聚合带宽随数量增长，缓解 PCIe 瓶颈。' },&#10;        { t:'缓解主机争用', d:'注意力下沉后，主机不再被权重加载与自注意力双重占用。' },&#10;      ].map((c, i) =&gt; (&#10;        &lt;Box key={i} style={{ flex:1, background:'#F0F5FC', borderLeft:'5px solid #1E4FA8', borderRadius:8, padding:'14px 20px', display:'flex', flexDirection:'column', justifyContent:'center', gap:6 }}&gt;&#10;          &lt;Text style={{ fontSize:21, fontWeight:'bold', color:'#0E3F8C' }}&gt;{c.t}&lt;/Text&gt;&#10;          &lt;Text style={{ fontSize:16, color:'#1A2230', lineHeight:1.5 }}&gt;{c.d}&lt;/Text&gt;&#10;        &lt;/Box&gt;&#10;      ))}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0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研究背景与动机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近存储处理（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>NSP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）的三大优势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42950" y="1657350"/>
            <a:ext cx="5905500" cy="3810000"/>
          </a:xfrm>
          <a:prstGeom prst="roundRect">
            <a:avLst>
              <a:gd name="adj" fmla="val 3000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42950" y="1657350"/>
            <a:ext cx="5905500" cy="381000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476500" y="5543550"/>
            <a:ext cx="2438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示意图：传统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PCIe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拓扑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近存储处理（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NSP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248525" y="1009650"/>
            <a:ext cx="4533900" cy="1790700"/>
          </a:xfrm>
          <a:prstGeom prst="roundRect">
            <a:avLst>
              <a:gd name="adj" fmla="val 425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7248525" y="1009650"/>
            <a:ext cx="4533900" cy="1790700"/>
          </a:xfrm>
          <a:custGeom>
            <a:pathLst>
              <a:path w="476" h="18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85"/>
                </a:lnTo>
                <a:cubicBezTo>
                  <a:pt x="5" y="187"/>
                  <a:pt x="6" y="188"/>
                  <a:pt x="8" y="188"/>
                </a:cubicBezTo>
                <a:cubicBezTo>
                  <a:pt x="3" y="188"/>
                  <a:pt x="0" y="184"/>
                  <a:pt x="0" y="1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439025" y="1476375"/>
            <a:ext cx="4105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TB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级容量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39025" y="1781175"/>
            <a:ext cx="4105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本地存储可容纳远超主机内存的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KV Cache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，无需溢出到慢速层。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248525" y="2914650"/>
            <a:ext cx="4533900" cy="1781175"/>
          </a:xfrm>
          <a:prstGeom prst="roundRect">
            <a:avLst>
              <a:gd name="adj" fmla="val 427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7248525" y="2914650"/>
            <a:ext cx="4533900" cy="1781175"/>
          </a:xfrm>
          <a:custGeom>
            <a:pathLst>
              <a:path w="476" h="187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84"/>
                </a:lnTo>
                <a:cubicBezTo>
                  <a:pt x="5" y="186"/>
                  <a:pt x="6" y="187"/>
                  <a:pt x="8" y="187"/>
                </a:cubicBezTo>
                <a:cubicBezTo>
                  <a:pt x="3" y="187"/>
                  <a:pt x="0" y="183"/>
                  <a:pt x="0" y="17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439025" y="3381375"/>
            <a:ext cx="4105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带宽随设备扩展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439025" y="3686175"/>
            <a:ext cx="4105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多块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NSP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设备并行，聚合带宽随数量增长，缓解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PCIe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瓶颈。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7248525" y="4810125"/>
            <a:ext cx="4533900" cy="1514475"/>
          </a:xfrm>
          <a:prstGeom prst="roundRect">
            <a:avLst>
              <a:gd name="adj" fmla="val 503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7248525" y="4810125"/>
            <a:ext cx="4533900" cy="1514475"/>
          </a:xfrm>
          <a:custGeom>
            <a:pathLst>
              <a:path w="476" h="15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56"/>
                </a:lnTo>
                <a:cubicBezTo>
                  <a:pt x="5" y="158"/>
                  <a:pt x="6" y="159"/>
                  <a:pt x="8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39025" y="5276850"/>
            <a:ext cx="4105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缓解主机争用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39025" y="5581650"/>
            <a:ext cx="4105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注意力下沉后，主机不再被权重加载与自注意力双重占用。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style={{ width:'1280px', height:'720px', background:'#F7F9FC', padding:0 }}&gt;&#10;  &lt;Box style={{ display:'flex', flexDirection:'row', height:'100%' }}&gt;&#10;    &lt;Box style={{ width:340, background:'#0E3F8C', display:'flex', flexDirection:'column', justifyContent:'center', alignItems:'center' }}&gt;&#10;      &lt;Text style={{ fontSize:200, fontWeight:'bold', color:'#FFFFFF' }}&gt;02&lt;/Text&gt;&#10;    &lt;/Box&gt;&#10;    &lt;Box style={{ flex:1, padding:'90px 64px', display:'flex', flexDirection:'column', justifyContent:'center' }}&gt;&#10;      &lt;Text style={{ fontSize:18, color:'#3D7BD9', fontWeight:'bold', letterSpacing:3 }}&gt;CHAPTER 02&lt;/Text&gt;&#10;      &lt;Text style={{ fontSize:48, fontWeight:'bold', color:'#0E3F8C', marginBottom:30, lineHeight:1.3 }}&gt;HILOS 系统设计&lt;/Text&gt;&#10;      &lt;Box style={{ borderLeft:'4px solid #D9534F', paddingLeft:22, display:'flex', flexDirection:'column', gap:18 }}&gt;&#10;        &lt;Text style={{ fontSize:22, color:'#1A2230' }}&gt;· 注意力近存储（ANS）：把注意力计算下沉到存储侧&lt;/Text&gt;&#10;        &lt;Text style={{ fontSize:22, color:'#1A2230' }}&gt;· 协同 X-cache：利用主机闲置算力重算 K/V&lt;/Text&gt;&#10;        &lt;Text style={{ fontSize:22, color:'#1A2230' }}&gt;· 延迟 KV 回写：让存储写入脱离关键路径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4767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48100" y="2266950"/>
            <a:ext cx="773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3848100" y="2476500"/>
            <a:ext cx="77343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848100" y="3476625"/>
            <a:ext cx="7772400" cy="1114425"/>
          </a:xfrm>
          <a:custGeom>
            <a:pathLst>
              <a:path w="816" h="117">
                <a:moveTo>
                  <a:pt x="0" y="0"/>
                </a:moveTo>
                <a:lnTo>
                  <a:pt x="4" y="0"/>
                </a:lnTo>
                <a:lnTo>
                  <a:pt x="4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095750" y="347662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注意力近存储（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ANS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）：把注意力计算下沉到存储侧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095750" y="3905250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协同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X-cache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：利用主机闲置算力重算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K/V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4095750" y="433387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延迟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回写：让存储写入脱离关键路径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5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2 · HILOS 系统设计&lt;/Text&gt;&#10;    &lt;Text style={{ fontSize:31, fontWeight:'bold', color:'#1E4FA8' }}&gt;HILOS 框架总览&lt;/Text&gt;&#10;  &lt;/Box&gt;&#10;  &lt;Box style={{ height:574, paddingLeft:48, paddingRight:48, paddingTop:16, display:'flex', flexDirection:'row', gap:30 }}&gt;&#10;    &lt;Box style={{ width:680, display:'flex', alignItems:'center', justifyContent:'center', background:'#F7FAFE', borderRadius:8, border:'1px solid #E2E8F2' }}&gt;&#10;      &lt;Box style={{ width:640, height:430, display:'flex', alignItems:'center', justifyContent:'center' }}&gt;&#10;        &lt;svg viewBox=&quot;0 0 640 430&quot; width=&quot;640&quot; height=&quot;430&quot; xmlns=&quot;http://www.w3.org/2000/svg&quot;&gt;&#10;          &lt;defs&gt;&#10;            &lt;marker id=&quot;p8blue&quot; markerWidth=&quot;11&quot; markerHeight=&quot;11&quot; refX=&quot;8&quot; refY=&quot;4&quot; orient=&quot;auto&quot;&gt;&lt;path d=&quot;M0,0 L9,4 L0,8 Z&quot; fill=&quot;#1E4FA8&quot;/&gt;&lt;/marker&gt;&#10;            &lt;marker id=&quot;p8green&quot; markerWidth=&quot;11&quot; markerHeight=&quot;11&quot; refX=&quot;8&quot; refY=&quot;4&quot; orient=&quot;auto&quot;&gt;&lt;path d=&quot;M0,0 L9,4 L0,8 Z&quot; fill=&quot;#2E8B57&quot;/&gt;&lt;/marker&gt;&#10;          &lt;/defs&gt;&#10;          &lt;rect x=&quot;120&quot; y=&quot;22&quot; width=&quot;400&quot; height=&quot;74&quot; rx=&quot;12&quot; fill=&quot;#E8EFF8&quot; stroke=&quot;#1E4FA8&quot; stroke-width=&quot;2&quot;/&gt;&#10;          &lt;text font-family=&quot;Microsoft YaHei, SimHei, sans-serif&quot; x=&quot;320&quot; y=&quot;54&quot; text-anchor=&quot;middle&quot; font-size=&quot;19&quot; fill=&quot;#0E3F8C&quot; font-weight=&quot;bold&quot;&gt;主机 CPU&lt;/text&gt;&#10;          &lt;text font-family=&quot;Microsoft YaHei, SimHei, sans-serif&quot; x=&quot;320&quot; y=&quot;80&quot; text-anchor=&quot;middle&quot; font-size=&quot;15&quot; fill=&quot;#1A2230&quot;&gt;调度任务 · 管理 X-cache 重算&lt;/text&gt;&#10;          &lt;line x1=&quot;320&quot; y1=&quot;96&quot; x2=&quot;320&quot; y2=&quot;138&quot; stroke=&quot;#1E4FA8&quot; stroke-width=&quot;3&quot; marker-end=&quot;url(#p8blue)&quot;/&gt;&#10;          &lt;rect x=&quot;50&quot; y=&quot;144&quot; width=&quot;540&quot; height=&quot;120&quot; rx=&quot;14&quot; fill=&quot;#1E4FA8&quot;/&gt;&#10;          &lt;text font-family=&quot;Microsoft YaHei, SimHei, sans-serif&quot; x=&quot;320&quot; y=&quot;176&quot; text-anchor=&quot;middle&quot; font-size=&quot;20&quot; fill=&quot;#FFFFFF&quot; font-weight=&quot;bold&quot;&gt;NSP 加速板：16 块 SmartSSD&lt;/text&gt;&#10;          &lt;g fill=&quot;#DCE8FB&quot;&gt;&#10;            &lt;rect x=&quot;90&quot; y=&quot;196&quot; width=&quot;26&quot; height=&quot;26&quot; rx=&quot;4&quot;/&gt;&lt;rect x=&quot;124&quot; y=&quot;196&quot; width=&quot;26&quot; height=&quot;26&quot; rx=&quot;4&quot;/&gt;&lt;rect x=&quot;158&quot; y=&quot;196&quot; width=&quot;26&quot; height=&quot;26&quot; rx=&quot;4&quot;/&gt;&lt;rect x=&quot;192&quot; y=&quot;196&quot; width=&quot;26&quot; height=&quot;26&quot; rx=&quot;4&quot;/&gt;&#10;            &lt;rect x=&quot;300&quot; y=&quot;196&quot; width=&quot;26&quot; height=&quot;26&quot; rx=&quot;4&quot;/&gt;&lt;rect x=&quot;334&quot; y=&quot;196&quot; width=&quot;26&quot; height=&quot;26&quot; rx=&quot;4&quot;/&gt;&lt;rect x=&quot;368&quot; y=&quot;196&quot; width=&quot;26&quot; height=&quot;26&quot; rx=&quot;4&quot;/&gt;&lt;rect x=&quot;402&quot; y=&quot;196&quot; width=&quot;26&quot; height=&quot;26&quot; rx=&quot;4&quot;/&gt;&#10;            &lt;rect x=&quot;478&quot; y=&quot;196&quot; width=&quot;26&quot; height=&quot;26&quot; rx=&quot;4&quot;/&gt;&lt;rect x=&quot;512&quot; y=&quot;196&quot; width=&quot;26&quot; height=&quot;26&quot; rx=&quot;4&quot;/&gt;&#10;          &lt;/g&gt;&#10;          &lt;text font-family=&quot;Microsoft YaHei, SimHei, sans-serif&quot; x=&quot;320&quot; y=&quot;248&quot; text-anchor=&quot;middle&quot; font-size=&quot;14&quot; fill=&quot;#DCE8FB&quot;&gt;每块就近计算注意力（ANS），KV 不出盘&lt;/text&gt;&#10;          &lt;line x1=&quot;320&quot; y1=&quot;264&quot; x2=&quot;320&quot; y2=&quot;298&quot; stroke=&quot;#6B7A8F&quot; stroke-width=&quot;3&quot; marker-end=&quot;url(#p8blue)&quot;/&gt;&#10;          &lt;rect x=&quot;190&quot; y=&quot;304&quot; width=&quot;260&quot; height=&quot;64&quot; rx=&quot;12&quot; fill=&quot;#6B7A8F&quot;/&gt;&#10;          &lt;text font-family=&quot;Microsoft YaHei, SimHei, sans-serif&quot; x=&quot;320&quot; y=&quot;332&quot; text-anchor=&quot;middle&quot; font-size=&quot;17&quot; fill=&quot;#FFFFFF&quot; font-weight=&quot;bold&quot;&gt;普通 SSD&lt;/text&gt;&#10;          &lt;text font-family=&quot;Microsoft YaHei, SimHei, sans-serif&quot; x=&quot;320&quot; y=&quot;356&quot; text-anchor=&quot;middle&quot; font-size=&quot;14&quot; fill=&quot;#E3E9F0&quot;&gt;冷数据 / 溢出存储&lt;/text&gt;&#10;          &lt;line x1=&quot;590&quot; y1=&quot;204&quot; x2=&quot;628&quot; y2=&quot;204&quot; stroke=&quot;#2E8B57&quot; stroke-width=&quot;4&quot; marker-end=&quot;url(#p8green)&quot;/&gt;&#10;          &lt;text font-family=&quot;Microsoft YaHei, SimHei, sans-serif&quot; x=&quot;612&quot; y=&quot;188&quot; text-anchor=&quot;middle&quot; font-size=&quot;12&quot; fill=&quot;#1E7A46&quot; font-weight=&quot;bold&quot;&gt;只回传&lt;/text&gt;&#10;          &lt;text font-family=&quot;Microsoft YaHei, SimHei, sans-serif&quot; x=&quot;612&quot; y=&quot;226&quot; text-anchor=&quot;middle&quot; font-size=&quot;12&quot; fill=&quot;#1E7A46&quot; font-weight=&quot;bold&quot;&gt;结果&lt;/text&gt;&#10;          &lt;text font-family=&quot;Microsoft YaHei, SimHei, sans-serif&quot; x=&quot;320&quot; y=&quot;402&quot; text-anchor=&quot;middle&quot; font-size=&quot;13&quot; fill=&quot;#4A5568&quot;&gt;只把注意力结果送回主机 -&gt; 跨互连流量骤降&lt;/text&gt;&#10;        &lt;/svg&gt;&#10;      &lt;/Box&gt;&#10;    &lt;/Box&gt;&#10;    &lt;Box style={{ flex:1, display:'flex', flexDirection:'column', justifyContent:'center', gap:16 }}&gt;&#10;      &lt;Text style={{ fontSize:21, fontWeight:'bold', color:'#0E3F8C', lineHeight:1.35 }}&gt;首个用现成 SmartSSD 支撑 大于100K 上下文的 NSP 卸载系统&lt;/Text&gt;&#10;      &lt;Text style={{ fontSize:17, color:'#1A2230', lineHeight:1.55 }}&gt;核心思想 &lt;span style={{ fontWeight:'bold', color:'#1E4FA8' }}&gt;attention near storage&lt;/span&gt;：KV 缓存放于 NSP，注意力在设备内计算。&lt;/Text&gt;&#10;      &lt;Text style={{ fontSize:17, color:'#1A2230', lineHeight:1.6 }}&gt;· GPU：权重加载、QKV / MLP 投影&lt;br /&gt;· NSP 加速器：注意力计算&lt;br /&gt;· 主机 CPU：调度与 X-cache 重算&lt;/Text&gt;&#10;      &lt;Box style={{ background:'#F0F5FC', borderLeft:'4px solid #1E4FA8', padding:'12px 16px', borderRadius:6 }}&gt;&#10;        &lt;Text style={{ fontSize:16, color:'#1A2230', lineHeight:1.5 }}&gt;只把注意力结果送回主机 —— 跨互连流量骤降。&lt;/Text&gt;&#10;      &lt;/Box&gt;&#10;      &lt;Text style={{ fontSize:12, color:'#8B97A8' }}&gt;示意图：HILOS 三层框架（主机 / NSP 加速板 / 普通 SSD）&lt;/Text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02 · HILOS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框架总览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57200" y="1009650"/>
            <a:ext cx="6477000" cy="5314950"/>
          </a:xfrm>
          <a:prstGeom prst="roundRect">
            <a:avLst>
              <a:gd name="adj" fmla="val 1434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27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47700" y="1619250"/>
            <a:ext cx="6096000" cy="4095750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219950" y="1943100"/>
            <a:ext cx="4514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首个用现成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SmartSSD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支撑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大于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100K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上下文的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NSP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卸载系统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219950" y="2752725"/>
            <a:ext cx="45148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核心思想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1E4FA8"/>
                </a:solidFill>
                <a:latin typeface="Microsoft YaHei"/>
                <a:ea typeface="Microsoft YaHei"/>
              </a:rPr>
              <a:t>attention near storage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KV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缓存放于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NSP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，注意力在设备内计算。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219950" y="3514725"/>
            <a:ext cx="4514850" cy="933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GPU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：权重加载、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QKV / MLP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投影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NSP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加速器：注意力计算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主机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CPU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：调度与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X-cache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重算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7258050" y="4600575"/>
            <a:ext cx="4514850" cy="504825"/>
          </a:xfrm>
          <a:prstGeom prst="roundRect">
            <a:avLst>
              <a:gd name="adj" fmla="val 1132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7258050" y="4600575"/>
            <a:ext cx="4514850" cy="504825"/>
          </a:xfrm>
          <a:custGeom>
            <a:pathLst>
              <a:path w="474" h="5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1"/>
                </a:lnTo>
                <a:cubicBezTo>
                  <a:pt x="4" y="52"/>
                  <a:pt x="5" y="53"/>
                  <a:pt x="6" y="53"/>
                </a:cubicBezTo>
                <a:cubicBezTo>
                  <a:pt x="3" y="53"/>
                  <a:pt x="0" y="50"/>
                  <a:pt x="0" y="4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410450" y="4714875"/>
            <a:ext cx="4171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只把注意力结果送回主机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跨互连流量骤降。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219950" y="5257800"/>
            <a:ext cx="451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三层框架（主机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NSP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加速板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普通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SSD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2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2 · HILOS 系统设计&lt;/Text&gt;&#10;    &lt;Text style={{ fontSize:31, fontWeight:'bold', color:'#1E4FA8' }}&gt;注意力近存储（ANS）&lt;/Text&gt;&#10;  &lt;/Box&gt;&#10;  &lt;Box style={{ height:574, paddingLeft:48, paddingRight:48, paddingTop:14, display:'flex', flexDirection:'row', gap:28 }}&gt;&#10;    &lt;Box style={{ width:640, display:'flex', flexDirection:'column', alignItems:'center', justifyContent:'center', gap:8 }}&gt;&#10;      &lt;Box style={{ width:600, height:430, background:'#F7FAFE', border:'1px solid #E2E8F2', borderRadius:12, display:'flex', alignItems:'center', justifyContent:'center' }}&gt;&#10;        &lt;svg viewBox=&quot;0 0 600 430&quot; width=&quot;600&quot; height=&quot;430&quot; xmlns=&quot;http://www.w3.org/2000/svg&quot;&gt;&#10;          &lt;defs&gt;&#10;            &lt;marker id=&quot;p9blue&quot; markerWidth=&quot;11&quot; markerHeight=&quot;11&quot; refX=&quot;8&quot; refY=&quot;4&quot; orient=&quot;auto&quot;&gt;&lt;path d=&quot;M0,0 L9,4 L0,8 Z&quot; fill=&quot;#1E4FA8&quot;/&gt;&lt;/marker&gt;&#10;            &lt;marker id=&quot;p9green&quot; markerWidth=&quot;11&quot; markerHeight=&quot;11&quot; refX=&quot;8&quot; refY=&quot;4&quot; orient=&quot;auto&quot;&gt;&lt;path d=&quot;M0,0 L9,4 L0,8 Z&quot; fill=&quot;#2E8B57&quot;/&gt;&lt;/marker&gt;&#10;          &lt;/defs&gt;&#10;          &lt;text font-family=&quot;Microsoft YaHei, SimHei, sans-serif&quot; x=&quot;300&quot; y=&quot;30&quot; text-anchor=&quot;middle&quot; font-size=&quot;17&quot; fill=&quot;#0E3F8C&quot; font-weight=&quot;bold&quot;&gt;每步解码的分工&lt;/text&gt;&#10;          &lt;rect x=&quot;40&quot; y=&quot;70&quot; width=&quot;230&quot; height=&quot;120&quot; rx=&quot;14&quot; fill=&quot;#1E4FA8&quot;/&gt;&#10;          &lt;text font-family=&quot;Microsoft YaHei, SimHei, sans-serif&quot; x=&quot;155&quot; y=&quot;112&quot; text-anchor=&quot;middle&quot; font-size=&quot;20&quot; fill=&quot;#FFFFFF&quot; font-weight=&quot;bold&quot;&gt;GPU&lt;/text&gt;&#10;          &lt;text font-family=&quot;Microsoft YaHei, SimHei, sans-serif&quot; x=&quot;155&quot; y=&quot;140&quot; text-anchor=&quot;middle&quot; font-size=&quot;15&quot; fill=&quot;#DCE8FB&quot;&gt;解码步 + QKV / MLP 投影&lt;/text&gt;&#10;          &lt;text font-family=&quot;Microsoft YaHei, SimHei, sans-serif&quot; x=&quot;155&quot; y=&quot;164&quot; text-anchor=&quot;middle&quot; font-size=&quot;13&quot; fill=&quot;#9DB8E8&quot;&gt;轻量计算&lt;/text&gt;&#10;          &lt;rect x=&quot;330&quot; y=&quot;70&quot; width=&quot;230&quot; height=&quot;120&quot; rx=&quot;14&quot; fill=&quot;#2E8B57&quot;/&gt;&#10;          &lt;text font-family=&quot;Microsoft YaHei, SimHei, sans-serif&quot; x=&quot;445&quot; y=&quot;112&quot; text-anchor=&quot;middle&quot; font-size=&quot;20&quot; fill=&quot;#FFFFFF&quot; font-weight=&quot;bold&quot;&gt;SmartSSD（ANS）&lt;/text&gt;&#10;          &lt;text font-family=&quot;Microsoft YaHei, SimHei, sans-serif&quot; x=&quot;445&quot; y=&quot;140&quot; text-anchor=&quot;middle&quot; font-size=&quot;15&quot; fill=&quot;#D6F0E0&quot;&gt;注意力计算&lt;/text&gt;&#10;          &lt;text font-family=&quot;Microsoft YaHei, SimHei, sans-serif&quot; x=&quot;445&quot; y=&quot;164&quot; text-anchor=&quot;middle&quot; font-size=&quot;13&quot; fill=&quot;#D6F0E0&quot;&gt;KV 在盘上算&lt;/text&gt;&#10;          &lt;line x1=&quot;270&quot; y1=&quot;110&quot; x2=&quot;330&quot; y2=&quot;110&quot; stroke=&quot;#1E4FA8&quot; stroke-width=&quot;4&quot; marker-end=&quot;url(#p9blue)&quot;/&gt;&#10;          &lt;text font-family=&quot;Microsoft YaHei, SimHei, sans-serif&quot; x=&quot;300&quot; y=&quot;98&quot; text-anchor=&quot;middle&quot; font-size=&quot;12&quot; fill=&quot;#0E3F8C&quot;&gt;KV 存盘&lt;/text&gt;&#10;          &lt;line x1=&quot;330&quot; y1=&quot;150&quot; x2=&quot;270&quot; y2=&quot;150&quot; stroke=&quot;#2E8B57&quot; stroke-width=&quot;4&quot; marker-end=&quot;url(#p9green)&quot;/&gt;&#10;          &lt;text font-family=&quot;Microsoft YaHei, SimHei, sans-serif&quot; x=&quot;300&quot; y=&quot;172&quot; text-anchor=&quot;middle&quot; font-size=&quot;12&quot; fill=&quot;#1E7A46&quot;&gt;回传小结果&lt;/text&gt;&#10;          &lt;text font-family=&quot;Microsoft YaHei, SimHei, sans-serif&quot; x=&quot;300&quot; y=&quot;222&quot; text-anchor=&quot;middle&quot; font-size=&quot;15&quot; fill=&quot;#4A5568&quot; font-weight=&quot;bold&quot;&gt;两者并行，GPU 不再反复读 KV&lt;/text&gt;&#10;          &lt;rect x=&quot;40&quot; y=&quot;250&quot; width=&quot;520&quot; height=&quot;158&quot; rx=&quot;12&quot; fill=&quot;#F0F5FC&quot; stroke=&quot;#1E4FA8&quot; stroke-width=&quot;1.5&quot;/&gt;&#10;          &lt;text font-family=&quot;Microsoft YaHei, SimHei, sans-serif&quot; x=&quot;300&quot; y=&quot;286&quot; text-anchor=&quot;middle&quot; font-size=&quot;17&quot; fill=&quot;#0E3F8C&quot; font-weight=&quot;bold&quot;&gt;效果&lt;/text&gt;&#10;          &lt;text font-family=&quot;Microsoft YaHei, SimHei, sans-serif&quot; x=&quot;300&quot; y=&quot;316&quot; text-anchor=&quot;middle&quot; font-size=&quot;15&quot; fill=&quot;#1A2230&quot;&gt;基线读流量随序列长度 s 缩放（4·s·h）&lt;/text&gt;&#10;          &lt;text font-family=&quot;Microsoft YaHei, SimHei, sans-serif&quot; x=&quot;300&quot; y=&quot;343&quot; text-anchor=&quot;middle&quot; font-size=&quot;15&quot; fill=&quot;#1A2230&quot;&gt;ANS 把 KV 读限制在设备内私有通路&lt;/text&gt;&#10;          &lt;text font-family=&quot;Microsoft YaHei, SimHei, sans-serif&quot; x=&quot;300&quot; y=&quot;370&quot; text-anchor=&quot;middle&quot; font-size=&quot;15&quot; fill=&quot;#1A2230&quot;&gt;仅回传注意力结果（常数大小 2·h）&lt;/text&gt;&#10;          &lt;text font-family=&quot;Microsoft YaHei, SimHei, sans-serif&quot; x=&quot;300&quot; y=&quot;397&quot; text-anchor=&quot;middle&quot; font-size=&quot;14&quot; fill=&quot;#D9534F&quot; font-weight=&quot;bold&quot;&gt;跨互连流量从 (s+1)/2 倍 -&gt; 常数&lt;/text&gt;&#10;        &lt;/svg&gt;&#10;      &lt;/Box&gt;&#10;      &lt;Text style={{ fontSize:12, color:'#8B97A8', textAlign:'center' }}&gt;示意图：注意力从 GPU 下沉到 SmartSSD（ANS），两者并行&lt;/Text&gt;&#10;    &lt;/Box&gt;&#10;    &lt;Box style={{ flex:1, display:'flex', flexDirection:'column', justifyContent:'center', gap:16 }}&gt;&#10;      &lt;Box style={{ background:'#F0F5FC', borderLeft:'4px solid #1E4FA8', borderRadius:8, padding:'16px 18px', display:'flex', flexDirection:'column', gap:6 }}&gt;&#10;        &lt;Text style={{ fontSize:17, fontWeight:'bold', color:'#0E3F8C' }}&gt;每解码步的互连流量比&lt;/Text&gt;&#10;        &lt;Text style={{ fontSize:18, color:'#1A2230', fontWeight:'bold', lineHeight:1.5 }}&gt;T_BASE / T_ANS = (4·s·h + 4·h) / (2·h + 6·h) = (s + 1) / 2&lt;/Text&gt;&#10;        &lt;Text style={{ fontSize:15, color:'#4A5568', lineHeight:1.45 }}&gt;基线读流量 4·s·h 随上下文 s 缩放；ANS 仅留 2·h 输出。&lt;/Text&gt;&#10;      &lt;/Box&gt;&#10;      &lt;Box style={{ background:'#FFFFFF', border:'1px solid #E2E8F2', borderLeft:'4px solid #D9534F', borderRadius:8, padding:'16px 18px', display:'flex', flexDirection:'column', gap:6 }}&gt;&#10;        &lt;Text style={{ fontSize:17, fontWeight:'bold', color:'#0E3F8C' }}&gt;为什么有效&lt;/Text&gt;&#10;        &lt;Text style={{ fontSize:15, color:'#1A2230', lineHeight:1.5 }}&gt;KV 读流量被限制在设备内部私有通路；写流量仅小幅增加（4·h -&gt; 6·h），总体降幅随 s 增大。&lt;/Text&gt;&#10;      &lt;/Box&gt;&#10;      &lt;Text style={{ fontSize:14, color:'#8B97A8', lineHeight:1.45 }}&gt;解码七步：加载权重 -&gt; QKV 投影 -&gt; 写 QKV 至 SSD -&gt; NSP 本地加载 KV -&gt; 注意力 -&gt; 结果回传 -&gt; MLP。&lt;/Text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02 · HILOS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注意力近存储（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>ANS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47700" y="1504950"/>
            <a:ext cx="5715000" cy="4095750"/>
          </a:xfrm>
          <a:prstGeom prst="roundRect">
            <a:avLst>
              <a:gd name="adj" fmla="val 2791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47700" y="1504950"/>
            <a:ext cx="5715000" cy="409575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914525" y="5676900"/>
            <a:ext cx="31908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示意图：注意力从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下沉到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SmartSSD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ANS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），两者并行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858000" y="1990725"/>
            <a:ext cx="4914900" cy="1495425"/>
          </a:xfrm>
          <a:prstGeom prst="roundRect">
            <a:avLst>
              <a:gd name="adj" fmla="val 50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858000" y="1990725"/>
            <a:ext cx="4914900" cy="1495425"/>
          </a:xfrm>
          <a:custGeom>
            <a:pathLst>
              <a:path w="516" h="157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3"/>
                </a:lnTo>
                <a:cubicBezTo>
                  <a:pt x="4" y="155"/>
                  <a:pt x="5" y="157"/>
                  <a:pt x="7" y="157"/>
                </a:cubicBezTo>
                <a:cubicBezTo>
                  <a:pt x="3" y="157"/>
                  <a:pt x="0" y="153"/>
                  <a:pt x="0" y="14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029450" y="2143125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每解码步的互连流量比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029450" y="2400300"/>
            <a:ext cx="4533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T_BASE / T_ANS = (4·s·h + 4·h) / (2·h + 6·h) = (s + 1) / 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029450" y="3076575"/>
            <a:ext cx="4533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基线读流量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4·s·h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随上下文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缩放；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ANS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仅留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2·h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输出。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858000" y="3638550"/>
            <a:ext cx="4914900" cy="1076325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6858000" y="3638550"/>
            <a:ext cx="4914900" cy="1076325"/>
          </a:xfrm>
          <a:custGeom>
            <a:pathLst>
              <a:path w="516" h="11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09"/>
                </a:lnTo>
                <a:cubicBezTo>
                  <a:pt x="4" y="111"/>
                  <a:pt x="5" y="113"/>
                  <a:pt x="7" y="113"/>
                </a:cubicBezTo>
                <a:cubicBezTo>
                  <a:pt x="3" y="113"/>
                  <a:pt x="0" y="109"/>
                  <a:pt x="0" y="10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029450" y="37909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为什么有效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29450" y="4048125"/>
            <a:ext cx="4533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KV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读流量被限制在设备内部私有通路；写流量仅小幅增加（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4·h -&gt; 6·h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），总体降幅随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增大。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19900" y="4867275"/>
            <a:ext cx="49149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解码七步：加载权重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-&gt; QKV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投影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写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QKV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至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SSD -&gt; NSP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本地加载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KV -&gt;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注意力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结果回传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-&gt; MLP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2 · HILOS 系统设计&lt;/Text&gt;&#10;    &lt;Text style={{ fontSize:31, fontWeight:'bold', color:'#1E4FA8' }}&gt;协同 X-cache&lt;/Text&gt;&#10;  &lt;/Box&gt;&#10;  &lt;Box style={{ height:574, paddingLeft:48, paddingRight:48, paddingTop:16, display:'flex', flexDirection:'row', gap:28 }}&gt;&#10;    &lt;Box style={{ width:620, display:'flex', flexDirection:'column', alignItems:'center', justifyContent:'center', gap:8 }}&gt;&#10;      &lt;Box style={{ width:590, height:250, background:'#F7FAFE', border:'1px solid #E2E8F2', borderRadius:12, display:'flex', alignItems:'center', justifyContent:'center' }}&gt;&#10;        &lt;svg viewBox=&quot;0 0 590 250&quot; width=&quot;590&quot; height=&quot;250&quot; xmlns=&quot;http://www.w3.org/2000/svg&quot;&gt;&#10;          &lt;defs&gt;&#10;            &lt;marker id=&quot;p10red&quot; markerWidth=&quot;10&quot; markerHeight=&quot;10&quot; refX=&quot;7&quot; refY=&quot;3.5&quot; orient=&quot;auto&quot;&gt;&lt;path d=&quot;M0,0 L8,3.5 L0,7 Z&quot; fill=&quot;#D9534F&quot;/&gt;&lt;/marker&gt;&#10;            &lt;marker id=&quot;p10green&quot; markerWidth=&quot;10&quot; markerHeight=&quot;10&quot; refX=&quot;7&quot; refY=&quot;3.5&quot; orient=&quot;auto&quot;&gt;&lt;path d=&quot;M0,0 L8,3.5 L0,7 Z&quot; fill=&quot;#2E8B57&quot;/&gt;&lt;/marker&gt;&#10;          &lt;/defs&gt;&#10;          &lt;text font-family=&quot;Microsoft YaHei, SimHei, sans-serif&quot; x=&quot;140&quot; y=&quot;22&quot; text-anchor=&quot;middle&quot; font-size=&quot;14&quot; fill=&quot;#C0392B&quot; font-weight=&quot;bold&quot;&gt;无 X-cache&lt;/text&gt;&#10;          &lt;rect x=&quot;30&quot; y=&quot;34&quot; width=&quot;66&quot; height=&quot;32&quot; rx=&quot;7&quot; fill=&quot;#E8EFF8&quot; stroke=&quot;#1E4FA8&quot;/&gt;&lt;text font-family=&quot;Microsoft YaHei, SimHei, sans-serif&quot; x=&quot;63&quot; y=&quot;55&quot; text-anchor=&quot;middle&quot; font-size=&quot;13&quot; fill=&quot;#0E3F8C&quot;&gt;请求1&lt;/text&gt;&#10;          &lt;rect x=&quot;127&quot; y=&quot;34&quot; width=&quot;66&quot; height=&quot;32&quot; rx=&quot;7&quot; fill=&quot;#E8EFF8&quot; stroke=&quot;#1E4FA8&quot;/&gt;&lt;text font-family=&quot;Microsoft YaHei, SimHei, sans-serif&quot; x=&quot;160&quot; y=&quot;55&quot; text-anchor=&quot;middle&quot; font-size=&quot;13&quot; fill=&quot;#0E3F8C&quot;&gt;请求2&lt;/text&gt;&#10;          &lt;rect x=&quot;224&quot; y=&quot;34&quot; width=&quot;66&quot; height=&quot;32&quot; rx=&quot;7&quot; fill=&quot;#E8EFF8&quot; stroke=&quot;#1E4FA8&quot;/&gt;&lt;text font-family=&quot;Microsoft YaHei, SimHei, sans-serif&quot; x=&quot;257&quot; y=&quot;55&quot; text-anchor=&quot;middle&quot; font-size=&quot;13&quot; fill=&quot;#0E3F8C&quot;&gt;请求3&lt;/text&gt;&#10;          &lt;line x1=&quot;63&quot; y1=&quot;66&quot; x2=&quot;63&quot; y2=&quot;108&quot; stroke=&quot;#D9534F&quot; stroke-width=&quot;3&quot; marker-end=&quot;url(#p10red)&quot;/&gt;&#10;          &lt;line x1=&quot;160&quot; y1=&quot;66&quot; x2=&quot;160&quot; y2=&quot;108&quot; stroke=&quot;#D9534F&quot; stroke-width=&quot;3&quot; marker-end=&quot;url(#p10red)&quot;/&gt;&#10;          &lt;line x1=&quot;257&quot; y1=&quot;66&quot; x2=&quot;257&quot; y2=&quot;108&quot; stroke=&quot;#D9534F&quot; stroke-width=&quot;3&quot; marker-end=&quot;url(#p10red)&quot;/&gt;&#10;          &lt;rect x=&quot;30&quot; y=&quot;108&quot; width=&quot;260&quot; height=&quot;40&quot; rx=&quot;8&quot; fill=&quot;#6B7A8F&quot;/&gt;&lt;text font-family=&quot;Microsoft YaHei, SimHei, sans-serif&quot; x=&quot;160&quot; y=&quot;133&quot; text-anchor=&quot;middle&quot; font-size=&quot;14&quot; fill=&quot;#FFFFFF&quot;&gt;各自存 / 算 KV（重复）&lt;/text&gt;&#10;          &lt;text font-family=&quot;Microsoft YaHei, SimHei, sans-serif&quot; x=&quot;160&quot; y=&quot;172&quot; text-anchor=&quot;middle&quot; font-size=&quot;13&quot; fill=&quot;#C0392B&quot;&gt;存储翻倍 · 流量翻倍&lt;/text&gt;&#10;          &lt;text font-family=&quot;Microsoft YaHei, SimHei, sans-serif&quot; x=&quot;295&quot; y=&quot;150&quot; text-anchor=&quot;middle&quot; font-size=&quot;16&quot; fill=&quot;#8B97A8&quot; font-weight=&quot;bold&quot;&gt;VS&lt;/text&gt;&#10;          &lt;text font-family=&quot;Microsoft YaHei, SimHei, sans-serif&quot; x=&quot;450&quot; y=&quot;22&quot; text-anchor=&quot;middle&quot; font-size=&quot;14&quot; fill=&quot;#1E7A46&quot; font-weight=&quot;bold&quot;&gt;有 X-cache&lt;/text&gt;&#10;          &lt;rect x=&quot;360&quot; y=&quot;34&quot; width=&quot;60&quot; height=&quot;32&quot; rx=&quot;7&quot; fill=&quot;#E8EFF8&quot; stroke=&quot;#1E4FA8&quot;/&gt;&lt;text font-family=&quot;Microsoft YaHei, SimHei, sans-serif&quot; x=&quot;390&quot; y=&quot;55&quot; text-anchor=&quot;middle&quot; font-size=&quot;13&quot; fill=&quot;#0E3F8C&quot;&gt;请求1&lt;/text&gt;&#10;          &lt;rect x=&quot;435&quot; y=&quot;34&quot; width=&quot;60&quot; height=&quot;32&quot; rx=&quot;7&quot; fill=&quot;#E8EFF8&quot; stroke=&quot;#1E4FA8&quot;/&gt;&lt;text font-family=&quot;Microsoft YaHei, SimHei, sans-serif&quot; x=&quot;465&quot; y=&quot;55&quot; text-anchor=&quot;middle&quot; font-size=&quot;13&quot; fill=&quot;#0E3F8C&quot;&gt;请求2&lt;/text&gt;&#10;          &lt;rect x=&quot;510&quot; y=&quot;34&quot; width=&quot;60&quot; height=&quot;32&quot; rx=&quot;7&quot; fill=&quot;#E8EFF8&quot; stroke=&quot;#1E4FA8&quot;/&gt;&lt;text font-family=&quot;Microsoft YaHei, SimHei, sans-serif&quot; x=&quot;540&quot; y=&quot;55&quot; text-anchor=&quot;middle&quot; font-size=&quot;13&quot; fill=&quot;#0E3F8C&quot;&gt;请求3&lt;/text&gt;&#10;          &lt;line x1=&quot;390&quot; y1=&quot;66&quot; x2=&quot;390&quot; y2=&quot;108&quot; stroke=&quot;#2E8B57&quot; stroke-width=&quot;3&quot; marker-end=&quot;url(#p10green)&quot;/&gt;&#10;          &lt;line x1=&quot;465&quot; y1=&quot;66&quot; x2=&quot;465&quot; y2=&quot;108&quot; stroke=&quot;#2E8B57&quot; stroke-width=&quot;3&quot; marker-end=&quot;url(#p10green)&quot;/&gt;&#10;          &lt;line x1=&quot;540&quot; y1=&quot;66&quot; x2=&quot;540&quot; y2=&quot;108&quot; stroke=&quot;#2E8B57&quot; stroke-width=&quot;3&quot; marker-end=&quot;url(#p10green)&quot;/&gt;&#10;          &lt;rect x=&quot;360&quot; y=&quot;108&quot; width=&quot;210&quot; height=&quot;40&quot; rx=&quot;8&quot; fill=&quot;#2E8B57&quot;/&gt;&lt;text font-family=&quot;Microsoft YaHei, SimHei, sans-serif&quot; x=&quot;465&quot; y=&quot;133&quot; text-anchor=&quot;middle&quot; font-size=&quot;14&quot; fill=&quot;#FFFFFF&quot;&gt;共享 X-cache（命中复用）&lt;/text&gt;&#10;          &lt;text font-family=&quot;Microsoft YaHei, SimHei, sans-serif&quot; x=&quot;465&quot; y=&quot;172&quot; text-anchor=&quot;middle&quot; font-size=&quot;13&quot; fill=&quot;#1E7A46&quot;&gt;存储减半 · 流量减半&lt;/text&gt;&#10;          &lt;text font-family=&quot;Microsoft YaHei, SimHei, sans-serif&quot; x=&quot;295&quot; y=&quot;210&quot; text-anchor=&quot;middle&quot; font-size=&quot;13&quot; fill=&quot;#4A5568&quot;&gt;用「投影前输入 X」替代派生的 K / V，容量仅一半&lt;/text&gt;&#10;        &lt;/svg&gt;&#10;      &lt;/Box&gt;&#10;      &lt;Text style={{ fontSize:12, color:'#8B97A8', textAlign:'center' }}&gt;示意图：X-cache 用共享输入复用，免去重复存算&lt;/Text&gt;&#10;    &lt;/Box&gt;&#10;    &lt;Box style={{ flex:1, display:'flex', flexDirection:'column', justifyContent:'center', gap:16 }}&gt;&#10;      &lt;Text style={{ fontSize:21, fontWeight:'bold', color:'#0E3F8C', lineHeight:1.35 }}&gt;用「投影前输入 X」替代派生的 K/V&lt;/Text&gt;&#10;      &lt;Text style={{ fontSize:17, color:'#1A2230', lineHeight:1.55 }}&gt;X-cache 只需键/值组合一半的存储容量，把&lt;span style={{ fontWeight:'bold', color:'#1E4FA8' }}&gt;互连与闪存读流量都减半&lt;/span&gt;。&lt;/Text&gt;&#10;      &lt;Box style={{ background:'#F0F5FC', borderLeft:'4px solid #1E4FA8', padding:'12px 16px', borderRadius:6 }}&gt;&#10;        &lt;Text style={{ fontSize:18, fontWeight:'bold', color:'#0E3F8C' }}&gt;α = 2·B_PCI / (B_SSD + B_PCI)&lt;/Text&gt;&#10;        &lt;Text style={{ fontSize:14, color:'#4A5568', marginTop:2 }}&gt;由 PCIe 与 SSD 带宽之比自动选定（取最近 2 的幂）&lt;/Text&gt;&#10;      &lt;/Box&gt;&#10;      &lt;Text style={{ fontSize:16, color:'#1A2230', lineHeight:1.5 }}&gt;重算与 NSP 注意力&lt;span style={{ fontWeight:'bold', color:'#D9534F' }}&gt;并发执行&lt;/span&gt;，延迟被隐藏；同时减少 SSD 写入，利好耐久性。&lt;/Text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0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02 · HILOS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协同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X-cache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0075" y="2371725"/>
            <a:ext cx="5619750" cy="2381250"/>
          </a:xfrm>
          <a:prstGeom prst="roundRect">
            <a:avLst>
              <a:gd name="adj" fmla="val 4800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0075" y="2371725"/>
            <a:ext cx="5619750" cy="23812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143125" y="4829175"/>
            <a:ext cx="25336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X-cache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用共享输入复用，免去重复存算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629400" y="2381250"/>
            <a:ext cx="5105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用「投影前输入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」替代派生的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K/V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629400" y="2867025"/>
            <a:ext cx="51054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X-cache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只需键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值组合一半的存储容量，把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互连与闪存读流量都减半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667500" y="3629025"/>
            <a:ext cx="5105400" cy="619125"/>
          </a:xfrm>
          <a:prstGeom prst="roundRect">
            <a:avLst>
              <a:gd name="adj" fmla="val 923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667500" y="3629025"/>
            <a:ext cx="5105400" cy="619125"/>
          </a:xfrm>
          <a:custGeom>
            <a:pathLst>
              <a:path w="536" h="6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63"/>
                </a:lnTo>
                <a:cubicBezTo>
                  <a:pt x="4" y="64"/>
                  <a:pt x="5" y="65"/>
                  <a:pt x="6" y="65"/>
                </a:cubicBezTo>
                <a:cubicBezTo>
                  <a:pt x="3" y="65"/>
                  <a:pt x="0" y="62"/>
                  <a:pt x="0" y="5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19900" y="3743325"/>
            <a:ext cx="4762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α = 2·B_PCI / (B_SSD + B_PCI)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19900" y="397192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由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PCIe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SSD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带宽之比自动选定（取最近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的幂）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629400" y="4400550"/>
            <a:ext cx="5105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重算与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NSP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注意力</a:t>
            </a:r>
            <a:r>
              <a:rPr lang="zh-CN" sz="1200" b="1">
                <a:solidFill>
                  <a:srgbClr val="D9534F"/>
                </a:solidFill>
                <a:latin typeface="Microsoft YaHei"/>
                <a:ea typeface="Microsoft YaHei"/>
              </a:rPr>
              <a:t>并发执行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，延迟被隐藏；同时减少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SSD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写入，利好耐久性。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2 · HILOS 系统设计&lt;/Text&gt;&#10;    &lt;Text style={{ fontSize:31, fontWeight:'bold', color:'#1E4FA8' }}&gt;延迟 KV 缓存回写&lt;/Text&gt;&#10;  &lt;/Box&gt;&#10;  &lt;Box style={{ height:574, paddingLeft:48, paddingRight:48, paddingTop:16, display:'flex', flexDirection:'row', gap:28 }}&gt;&#10;    &lt;Box style={{ width:560, display:'flex', flexDirection:'column', alignItems:'center', justifyContent:'center', gap:8 }}&gt;&#10;      &lt;Box style={{ width:530, height:360, background:'#F7FAFE', border:'1px solid #E2E8F2', borderRadius:12, display:'flex', alignItems:'center', justifyContent:'center' }}&gt;&#10;        &lt;svg viewBox=&quot;0 0 530 360&quot; width=&quot;530&quot; height=&quot;360&quot; xmlns=&quot;http://www.w3.org/2000/svg&quot;&gt;&#10;          &lt;defs&gt;&#10;            &lt;marker id=&quot;p11red&quot; markerWidth=&quot;11&quot; markerHeight=&quot;11&quot; refX=&quot;8&quot; refY=&quot;4&quot; orient=&quot;auto&quot;&gt;&lt;path d=&quot;M0,0 L9,4 L0,8 Z&quot; fill=&quot;#D9534F&quot;/&gt;&lt;/marker&gt;&#10;            &lt;marker id=&quot;p11green&quot; markerWidth=&quot;11&quot; markerHeight=&quot;11&quot; refX=&quot;8&quot; refY=&quot;4&quot; orient=&quot;auto&quot;&gt;&lt;path d=&quot;M0,0 L9,4 L0,8 Z&quot; fill=&quot;#2E8B57&quot;/&gt;&lt;/marker&gt;&#10;          &lt;/defs&gt;&#10;          &lt;text font-family=&quot;Microsoft YaHei, SimHei, sans-serif&quot; x=&quot;265&quot; y=&quot;24&quot; text-anchor=&quot;middle&quot; font-size=&quot;16&quot; fill=&quot;#0E3F8C&quot; font-weight=&quot;bold&quot;&gt;把写入移出关键路径&lt;/text&gt;&#10;          &lt;text font-family=&quot;Microsoft YaHei, SimHei, sans-serif&quot; x=&quot;130&quot; y=&quot;52&quot; text-anchor=&quot;middle&quot; font-size=&quot;14&quot; fill=&quot;#C0392B&quot; font-weight=&quot;bold&quot;&gt;朴素写回&lt;/text&gt;&#10;          &lt;rect x=&quot;55&quot; y=&quot;66&quot; width=&quot;150&quot; height=&quot;70&quot; rx=&quot;12&quot; fill=&quot;#6B7A8F&quot;/&gt;&lt;text font-family=&quot;Microsoft YaHei, SimHei, sans-serif&quot; x=&quot;130&quot; y=&quot;104&quot; text-anchor=&quot;middle&quot; font-size=&quot;16&quot; fill=&quot;#FFFFFF&quot; font-weight=&quot;bold&quot;&gt;SSD&lt;/text&gt;&lt;text font-family=&quot;Microsoft YaHei, SimHei, sans-serif&quot; x=&quot;130&quot; y=&quot;125&quot; text-anchor=&quot;middle&quot; font-size=&quot;12&quot; fill=&quot;#E3E9F0&quot;&gt;写 KV&lt;/text&gt;&#10;          &lt;line x1=&quot;108&quot; y1=&quot;136&quot; x2=&quot;108&quot; y2=&quot;176&quot; stroke=&quot;#D9534F&quot; stroke-width=&quot;3&quot; marker-end=&quot;url(#p11red)&quot;/&gt;&#10;          &lt;line x1=&quot;130&quot; y1=&quot;136&quot; x2=&quot;130&quot; y2=&quot;176&quot; stroke=&quot;#D9534F&quot; stroke-width=&quot;3&quot; marker-end=&quot;url(#p11red)&quot;/&gt;&#10;          &lt;line x1=&quot;152&quot; y1=&quot;136&quot; x2=&quot;152&quot; y2=&quot;176&quot; stroke=&quot;#D9534F&quot; stroke-width=&quot;3&quot; marker-end=&quot;url(#p11red)&quot;/&gt;&#10;          &lt;rect x=&quot;55&quot; y=&quot;176&quot; width=&quot;150&quot; height=&quot;40&quot; rx=&quot;8&quot; fill=&quot;#E8EFF8&quot; stroke=&quot;#D9534F&quot; stroke-width=&quot;1.5&quot;/&gt;&lt;text font-family=&quot;Microsoft YaHei, SimHei, sans-serif&quot; x=&quot;130&quot; y=&quot;201&quot; text-anchor=&quot;middle&quot; font-size=&quot;13&quot; fill=&quot;#C0392B&quot;&gt;主机（频繁收）&lt;/text&gt;&#10;          &lt;text font-family=&quot;Microsoft YaHei, SimHei, sans-serif&quot; x=&quot;130&quot; y=&quot;244&quot; text-anchor=&quot;middle&quot; font-size=&quot;13&quot; fill=&quot;#C0392B&quot;&gt;频繁小包：慢 + 磨损&lt;/text&gt;&#10;          &lt;text font-family=&quot;Microsoft YaHei, SimHei, sans-serif&quot; x=&quot;400&quot; y=&quot;52&quot; text-anchor=&quot;middle&quot; font-size=&quot;14&quot; fill=&quot;#1E7A46&quot; font-weight=&quot;bold&quot;&gt;延迟回写&lt;/text&gt;&#10;          &lt;rect x=&quot;325&quot; y=&quot;66&quot; width=&quot;150&quot; height=&quot;70&quot; rx=&quot;12&quot; fill=&quot;#2E8B57&quot;/&gt;&lt;text font-family=&quot;Microsoft YaHei, SimHei, sans-serif&quot; x=&quot;400&quot; y=&quot;100&quot; text-anchor=&quot;middle&quot; font-size=&quot;16&quot; fill=&quot;#FFFFFF&quot; font-weight=&quot;bold&quot;&gt;SSD&lt;/text&gt;&lt;text font-family=&quot;Microsoft YaHei, SimHei, sans-serif&quot; x=&quot;400&quot; y=&quot;121&quot; text-anchor=&quot;middle&quot; font-size=&quot;12&quot; fill=&quot;#D6F0E0&quot;&gt;写 KV + 缓冲&lt;/text&gt;&#10;          &lt;rect x=&quot;355&quot; y=&quot;190&quot; width=&quot;90&quot; height=&quot;32&quot; rx=&quot;7&quot; fill=&quot;#F0F5FC&quot; stroke=&quot;#1E4FA8&quot;/&gt;&lt;text font-family=&quot;Microsoft YaHei, SimHei, sans-serif&quot; x=&quot;400&quot; y=&quot;212&quot; text-anchor=&quot;middle&quot; font-size=&quot;13&quot; fill=&quot;#0E3F8C&quot;&gt;攒一批&lt;/text&gt;&#10;          &lt;line x1=&quot;400&quot; y1=&quot;136&quot; x2=&quot;400&quot; y2=&quot;188&quot; stroke=&quot;#2E8B57&quot; stroke-width=&quot;3&quot; marker-end=&quot;url(#p11green)&quot;/&gt;&#10;          &lt;line x1=&quot;400&quot; y1=&quot;222&quot; x2=&quot;400&quot; y2=&quot;258&quot; stroke=&quot;#2E8B57&quot; stroke-width=&quot;5&quot; marker-end=&quot;url(#p11green)&quot;/&gt;&#10;          &lt;rect x=&quot;325&quot; y=&quot;258&quot; width=&quot;150&quot; height=&quot;40&quot; rx=&quot;8&quot; fill=&quot;#E8EFF8&quot; stroke=&quot;#2E8B57&quot; stroke-width=&quot;1.5&quot;/&gt;&lt;text font-family=&quot;Microsoft YaHei, SimHei, sans-serif&quot; x=&quot;400&quot; y=&quot;283&quot; text-anchor=&quot;middle&quot; font-size=&quot;13&quot; fill=&quot;#1E7A46&quot;&gt;主机（批量收）&lt;/text&gt;&#10;          &lt;text font-family=&quot;Microsoft YaHei, SimHei, sans-serif&quot; x=&quot;400&quot; y=&quot;324&quot; text-anchor=&quot;middle&quot; font-size=&quot;13&quot; fill=&quot;#1E7A46&quot;&gt;批量页写：快 + 省&lt;/text&gt;&#10;          &lt;text font-family=&quot;Microsoft YaHei, SimHei, sans-serif&quot; x=&quot;265&quot; y=&quot;160&quot; text-anchor=&quot;middle&quot; font-size=&quot;16&quot; fill=&quot;#8B97A8&quot; font-weight=&quot;bold&quot;&gt;VS&lt;/text&gt;&#10;        &lt;/svg&gt;&#10;      &lt;/Box&gt;&#10;      &lt;Text style={{ fontSize:12, color:'#8B97A8', textAlign:'center' }}&gt;示意图：延迟回写把频繁小包改为批量页写入&lt;/Text&gt;&#10;    &lt;/Box&gt;&#10;    &lt;Box style={{ flex:1, display:'flex', flexDirection:'column', justifyContent:'center', gap:16 }}&gt;&#10;      &lt;Text style={{ fontSize:21, fontWeight:'bold', color:'#0E3F8C' }}&gt;把写入从关键路径上摘下来&lt;/Text&gt;&#10;      &lt;Text style={{ fontSize:17, color:'#1A2230', lineHeight:1.55 }}&gt;新 KV 先暂存主机专用缓冲区，再以&lt;span style={{ fontWeight:'bold', color:'#1E4FA8' }}&gt;页大小块&lt;/span&gt;写入，告别亚页粒度写入。&lt;/Text&gt;&#10;      &lt;Text style={{ fontSize:21, fontWeight:'bold', color:'#0E3F8C' }}&gt;CPU 预计算部分 QKᵀ&lt;/Text&gt;&#10;      &lt;Text style={{ fontSize:17, color:'#1A2230', lineHeight:1.55 }}&gt;仅把标量结果送加速器，避免冗余向量重复传输。&lt;/Text&gt;&#10;      &lt;Box style={{ background:'#F0F5FC', borderLeft:'4px solid #1E4FA8', padding:'12px 16px', borderRadius:6 }}&gt;&#10;        &lt;Text style={{ fontSize:17, color:'#1A2230', lineHeight:1.45 }}&gt;溢出间隔设为 16 -&gt; &lt;span style={{ fontWeight:'bold', color:'#D9534F' }}&gt;写放大与写入延迟双降&lt;/span&gt;，同时缓解 SSD 磨损。&lt;/Text&gt;&#10;      &lt;/Box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02 · HILOS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系统设计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延迟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缓存回写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0075" y="1847850"/>
            <a:ext cx="5048250" cy="3429000"/>
          </a:xfrm>
          <a:prstGeom prst="roundRect">
            <a:avLst>
              <a:gd name="adj" fmla="val 3333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0075" y="1847850"/>
            <a:ext cx="5048250" cy="34290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981200" y="5353050"/>
            <a:ext cx="2286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示意图：延迟回写把频繁小包改为批量页写入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57900" y="255270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把写入从关键路径上摘下来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57900" y="2952750"/>
            <a:ext cx="56769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KV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先暂存主机专用缓冲区，再以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页大小块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写入，告别亚页粒度写入。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57900" y="3409950"/>
            <a:ext cx="567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CPU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预计算部分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QKᵀ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57900" y="3810000"/>
            <a:ext cx="56769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仅把标量结果送加速器，避免冗余向量重复传输。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0" y="4267200"/>
            <a:ext cx="5676900" cy="51435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096000" y="4267200"/>
            <a:ext cx="5676900" cy="514350"/>
          </a:xfrm>
          <a:custGeom>
            <a:pathLst>
              <a:path w="596" h="5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2"/>
                </a:lnTo>
                <a:cubicBezTo>
                  <a:pt x="4" y="53"/>
                  <a:pt x="5" y="54"/>
                  <a:pt x="6" y="54"/>
                </a:cubicBezTo>
                <a:cubicBezTo>
                  <a:pt x="3" y="54"/>
                  <a:pt x="0" y="51"/>
                  <a:pt x="0" y="4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248400" y="4381500"/>
            <a:ext cx="533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溢出间隔设为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16 -&gt; </a:t>
            </a: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写放大与写入延迟双降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，同时缓解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SSD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磨损。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0" name="" descr="&lt;Slide style={{ width:'1280px', height:'720px', background:'#F7F9FC', padding:0 }}&gt;&#10;  &lt;Box style={{ display:'flex', flexDirection:'row', height:'100%' }}&gt;&#10;    &lt;Box style={{ width:340, background:'#0E3F8C', display:'flex', flexDirection:'column', justifyContent:'center', alignItems:'center' }}&gt;&#10;      &lt;Text style={{ fontSize:200, fontWeight:'bold', color:'#FFFFFF' }}&gt;03&lt;/Text&gt;&#10;    &lt;/Box&gt;&#10;    &lt;Box style={{ flex:1, padding:'80px 64px', display:'flex', flexDirection:'column', justifyContent:'center' }}&gt;&#10;      &lt;Text style={{ fontSize:18, color:'#3D7BD9', fontWeight:'bold', letterSpacing:3 }}&gt;CHAPTER 03&lt;/Text&gt;&#10;      &lt;Text style={{ fontSize:48, fontWeight:'bold', color:'#0E3F8C', marginBottom:30, lineHeight:1.3 }}&gt;注意力加速器&lt;/Text&gt;&#10;      &lt;Box style={{ borderLeft:'4px solid #D9534F', paddingLeft:22, display:'flex', flexDirection:'column', gap:16 }}&gt;&#10;        &lt;Text style={{ fontSize:21, color:'#1A2230' }}&gt;· 资源受限 FPGA 下的设计挑战&lt;/Text&gt;&#10;        &lt;Text style={{ fontSize:21, color:'#1A2230' }}&gt;· 时间架构：分块处理长序列&lt;/Text&gt;&#10;        &lt;Text style={{ fontSize:21, color:'#1A2230' }}&gt;· 两遍 Softmax 与带原位转置的 GEMV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767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48100" y="2305050"/>
            <a:ext cx="773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848100" y="2514600"/>
            <a:ext cx="77343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注意力加速器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848100" y="3514725"/>
            <a:ext cx="7772400" cy="1047750"/>
          </a:xfrm>
          <a:custGeom>
            <a:pathLst>
              <a:path w="816" h="110">
                <a:moveTo>
                  <a:pt x="0" y="0"/>
                </a:moveTo>
                <a:lnTo>
                  <a:pt x="4" y="0"/>
                </a:lnTo>
                <a:lnTo>
                  <a:pt x="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095750" y="3514725"/>
            <a:ext cx="7486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资源受限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FPGA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下的设计挑战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095750" y="3914775"/>
            <a:ext cx="7486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时间架构：分块处理长序列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095750" y="4314825"/>
            <a:ext cx="7486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两遍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Softmax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与带原位转置的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GEMV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0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3 · 注意力加速器&lt;/Text&gt;&#10;    &lt;Text style={{ fontSize:31, fontWeight:'bold', color:'#1E4FA8' }}&gt;加速器架构：四单元流水线&lt;/Text&gt;&#10;  &lt;/Box&gt;&#10;  &lt;Box style={{ height:574, paddingLeft:48, paddingRight:48, paddingTop:14, display:'flex', flexDirection:'row', gap:26 }}&gt;&#10;    &lt;Box style={{ width:600, display:'flex', flexDirection:'column', alignItems:'center', justifyContent:'center', gap:6 }}&gt;&#10;      &lt;Box style={{ width:540, height:500, background:'#F7FAFE', border:'1px solid #E2E8F2', borderRadius:12, display:'flex', alignItems:'center', justifyContent:'center' }}&gt;&#10;        &lt;svg viewBox=&quot;0 0 540 500&quot; width=&quot;540&quot; height=&quot;500&quot; xmlns=&quot;http://www.w3.org/2000/svg&quot;&gt;&#10;          &lt;defs&gt;&#10;            &lt;marker id=&quot;p13blue&quot; markerWidth=&quot;11&quot; markerHeight=&quot;11&quot; refX=&quot;8&quot; refY=&quot;4&quot; orient=&quot;auto&quot;&gt;&lt;path d=&quot;M0,0 L9,4 L0,8 Z&quot; fill=&quot;#1E4FA8&quot;/&gt;&lt;/marker&gt;&#10;          &lt;/defs&gt;&#10;          &lt;text font-family=&quot;Microsoft YaHei, SimHei, sans-serif&quot; x=&quot;270&quot; y=&quot;28&quot; text-anchor=&quot;middle&quot; font-size=&quot;18&quot; fill=&quot;#0E3F8C&quot; font-weight=&quot;bold&quot;&gt;注意力加速器：四单元流水线&lt;/text&gt;&#10;          &lt;rect x=&quot;20&quot; y=&quot;80&quot; width=&quot;110&quot; height=&quot;100&quot; rx=&quot;12&quot; fill=&quot;#1E4FA8&quot;/&gt;&lt;text font-family=&quot;Microsoft YaHei, SimHei, sans-serif&quot; x=&quot;75&quot; y=&quot;122&quot; text-anchor=&quot;middle&quot; font-size=&quot;16&quot; fill=&quot;#FFFFFF&quot; font-weight=&quot;bold&quot;&gt;取 K / V&lt;/text&gt;&lt;text font-family=&quot;Microsoft YaHei, SimHei, sans-serif&quot; x=&quot;75&quot; y=&quot;148&quot; text-anchor=&quot;middle&quot; font-size=&quot;13&quot; fill=&quot;#DCE8FB&quot;&gt;+ Query&lt;/text&gt;&#10;          &lt;rect x=&quot;148&quot; y=&quot;80&quot; width=&quot;110&quot; height=&quot;100&quot; rx=&quot;12&quot; fill=&quot;#3D7BD9&quot;/&gt;&lt;text font-family=&quot;Microsoft YaHei, SimHei, sans-serif&quot; x=&quot;203&quot; y=&quot;122&quot; text-anchor=&quot;middle&quot; font-size=&quot;16&quot; fill=&quot;#FFFFFF&quot; font-weight=&quot;bold&quot;&gt;算分数&lt;/text&gt;&lt;text font-family=&quot;Microsoft YaHei, SimHei, sans-serif&quot; x=&quot;203&quot; y=&quot;148&quot; text-anchor=&quot;middle&quot; font-size=&quot;13&quot; fill=&quot;#EAF1FB&quot;&gt;QKᵀ&lt;/text&gt;&#10;          &lt;rect x=&quot;276&quot; y=&quot;80&quot; width=&quot;110&quot; height=&quot;100&quot; rx=&quot;12&quot; fill=&quot;#2E8B57&quot;/&gt;&lt;text font-family=&quot;Microsoft YaHei, SimHei, sans-serif&quot; x=&quot;331&quot; y=&quot;122&quot; text-anchor=&quot;middle&quot; font-size=&quot;16&quot; fill=&quot;#FFFFFF&quot; font-weight=&quot;bold&quot;&gt;Softmax&lt;/text&gt;&lt;text font-family=&quot;Microsoft YaHei, SimHei, sans-serif&quot; x=&quot;331&quot; y=&quot;148&quot; text-anchor=&quot;middle&quot; font-size=&quot;13&quot; fill=&quot;#D6F0E0&quot;&gt;两遍&lt;/text&gt;&#10;          &lt;rect x=&quot;404&quot; y=&quot;80&quot; width=&quot;110&quot; height=&quot;100&quot; rx=&quot;12&quot; fill=&quot;#6B7A8F&quot;/&gt;&lt;text font-family=&quot;Microsoft YaHei, SimHei, sans-serif&quot; x=&quot;459&quot; y=&quot;122&quot; text-anchor=&quot;middle&quot; font-size=&quot;16&quot; fill=&quot;#FFFFFF&quot; font-weight=&quot;bold&quot;&gt;加权求和&lt;/text&gt;&lt;text font-family=&quot;Microsoft YaHei, SimHei, sans-serif&quot; x=&quot;459&quot; y=&quot;148&quot; text-anchor=&quot;middle&quot; font-size=&quot;13&quot; fill=&quot;#E3E9F0&quot;&gt;Score·V&lt;/text&gt;&#10;          &lt;line x1=&quot;130&quot; y1=&quot;130&quot; x2=&quot;146&quot; y2=&quot;130&quot; stroke=&quot;#1E4FA8&quot; stroke-width=&quot;4&quot; marker-end=&quot;url(#p13blue)&quot;/&gt;&#10;          &lt;line x1=&quot;258&quot; y1=&quot;130&quot; x2=&quot;274&quot; y2=&quot;130&quot; stroke=&quot;#1E4FA8&quot; stroke-width=&quot;4&quot; marker-end=&quot;url(#p13blue)&quot;/&gt;&#10;          &lt;line x1=&quot;386&quot; y1=&quot;130&quot; x2=&quot;402&quot; y2=&quot;130&quot; stroke=&quot;#1E4FA8&quot; stroke-width=&quot;4&quot; marker-end=&quot;url(#p13blue)&quot;/&gt;&#10;          &lt;text font-family=&quot;Microsoft YaHei, SimHei, sans-serif&quot; x=&quot;270&quot; y=&quot;225&quot; text-anchor=&quot;middle&quot; font-size=&quot;14&quot; fill=&quot;#4A5568&quot;&gt;按 128 token 块流水处理，片内内存不随序列长度爆炸&lt;/text&gt;&#10;          &lt;rect x=&quot;30&quot; y=&quot;258&quot; width=&quot;480&quot; height=&quot;212&quot; rx=&quot;12&quot; fill=&quot;#F0F5FC&quot; stroke=&quot;#1E4FA8&quot; stroke-width=&quot;1.5&quot;/&gt;&#10;          &lt;text font-family=&quot;Microsoft YaHei, SimHei, sans-serif&quot; x=&quot;270&quot; y=&quot;294&quot; text-anchor=&quot;middle&quot; font-size=&quot;17&quot; fill=&quot;#0E3F8C&quot; font-weight=&quot;bold&quot;&gt;专为注意力定制&lt;/text&gt;&#10;          &lt;text font-family=&quot;Microsoft YaHei, SimHei, sans-serif&quot; x=&quot;270&quot; y=&quot;324&quot; text-anchor=&quot;middle&quot; font-size=&quot;15&quot; fill=&quot;#1A2230&quot;&gt;· 两遍 Softmax（max 归约 + 归一化）&lt;/text&gt;&#10;          &lt;text font-family=&quot;Microsoft YaHei, SimHei, sans-serif&quot; x=&quot;270&quot; y=&quot;350&quot; text-anchor=&quot;middle&quot; font-size=&quot;15&quot; fill=&quot;#1A2230&quot;&gt;   -&gt; 免去片外流量&lt;/text&gt;&#10;          &lt;text font-family=&quot;Microsoft YaHei, SimHei, sans-serif&quot; x=&quot;270&quot; y=&quot;380&quot; text-anchor=&quot;middle&quot; font-size=&quot;15&quot; fill=&quot;#1A2230&quot;&gt;· 块内原位转置，省全局 Kᵀ 存储&lt;/text&gt;&#10;          &lt;text font-family=&quot;Microsoft YaHei, SimHei, sans-serif&quot; x=&quot;270&quot; y=&quot;406&quot; text-anchor=&quot;middle&quot; font-size=&quot;15&quot; fill=&quot;#1A2230&quot;&gt;· 原生支持 GQA 广播&lt;/text&gt;&#10;          &lt;text font-family=&quot;Microsoft YaHei, SimHei, sans-serif&quot; x=&quot;270&quot; y=&quot;438&quot; text-anchor=&quot;middle&quot; font-size=&quot;15&quot; fill=&quot;#D9534F&quot; font-weight=&quot;bold&quot;&gt;-&gt; 内存占用恒定，长序列也不爆&lt;/text&gt;&#10;        &lt;/svg&gt;&#10;      &lt;/Box&gt;&#10;      &lt;Text style={{ fontSize:12, color:'#8B97A8', textAlign:'center' }}&gt;示意图：注意力加速器的四单元流水线与关键优化&lt;/Text&gt;&#10;    &lt;/Box&gt;&#10;    &lt;Box style={{ flex:1, display:'flex', flexDirection:'column', gap:14, justifyContent:'center' }}&gt;&#10;      &lt;Box style={{ flex:1, background:'#F0F5FC', borderLeft:'5px solid #1E4FA8', borderRadius:8, padding:'16px 20px', display:'flex', flexDirection:'column', justifyContent:'center', gap:8 }}&gt;&#10;        &lt;Text style={{ fontSize:21, fontWeight:'bold', color:'#0E3F8C' }}&gt;四单元并发流水&lt;/Text&gt;&#10;        &lt;Text style={{ fontSize:15, color:'#1A2230', lineHeight:1.5 }}&gt;Query-Key 乘积 -&gt; Softmax 统计聚合 -&gt; Softmax 归一化 -&gt; Score-Value 乘积，按块（128 token）流水处理，片内内存不随序列长度爆炸。&lt;/Text&gt;&#10;      &lt;/Box&gt;&#10;      &lt;Box style={{ flex:1, background:'#F0F5FC', borderLeft:'5px solid #D9534F', borderRadius:8, padding:'16px 20px', display:'flex', flexDirection:'column', justifyContent:'center', gap:8 }}&gt;&#10;        &lt;Text style={{ fontSize:21, fontWeight:'bold', color:'#0E3F8C' }}&gt;两遍 Softmax + 原位转置&lt;/Text&gt;&#10;        &lt;Text style={{ fontSize:15, color:'#1A2230', lineHeight:1.4 }}&gt;两遍 Softmax（max 归约 + 归一化）避免片外流量；GEMV 块内原位转置免去全局 Kᵀ 存储，并原生支持 GQA 广播。&lt;/Text&gt;&#10;      &lt;/Box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注意力加速器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加速器架构：四单元流水线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42950" y="1181100"/>
            <a:ext cx="5143500" cy="4762500"/>
          </a:xfrm>
          <a:prstGeom prst="roundRect">
            <a:avLst>
              <a:gd name="adj" fmla="val 2400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42950" y="1181100"/>
            <a:ext cx="5143500" cy="476250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057400" y="6000750"/>
            <a:ext cx="2514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示意图：注意力加速器的四单元流水线与关键优化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467475" y="990600"/>
            <a:ext cx="5314950" cy="2619375"/>
          </a:xfrm>
          <a:prstGeom prst="roundRect">
            <a:avLst>
              <a:gd name="adj" fmla="val 290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6467475" y="990600"/>
            <a:ext cx="5314950" cy="2619375"/>
          </a:xfrm>
          <a:custGeom>
            <a:pathLst>
              <a:path w="558" h="27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72"/>
                </a:lnTo>
                <a:cubicBezTo>
                  <a:pt x="5" y="274"/>
                  <a:pt x="6" y="275"/>
                  <a:pt x="8" y="275"/>
                </a:cubicBezTo>
                <a:cubicBezTo>
                  <a:pt x="3" y="275"/>
                  <a:pt x="0" y="271"/>
                  <a:pt x="0" y="2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657975" y="1885950"/>
            <a:ext cx="4886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四单元并发流水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657975" y="2209800"/>
            <a:ext cx="4886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Query-Key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乘积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-&gt; Softmax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统计聚合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-&gt; Softmax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归一化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-&gt; Score-Value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乘积，按块（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128 token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）流水处理，片内内存不随序列长度爆炸。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467475" y="3743325"/>
            <a:ext cx="5314950" cy="2581275"/>
          </a:xfrm>
          <a:prstGeom prst="roundRect">
            <a:avLst>
              <a:gd name="adj" fmla="val 29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467475" y="3743325"/>
            <a:ext cx="5314950" cy="2581275"/>
          </a:xfrm>
          <a:custGeom>
            <a:pathLst>
              <a:path w="558" h="271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268"/>
                </a:lnTo>
                <a:cubicBezTo>
                  <a:pt x="5" y="270"/>
                  <a:pt x="6" y="271"/>
                  <a:pt x="8" y="271"/>
                </a:cubicBezTo>
                <a:cubicBezTo>
                  <a:pt x="3" y="271"/>
                  <a:pt x="0" y="267"/>
                  <a:pt x="0" y="26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657975" y="4629150"/>
            <a:ext cx="4886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两遍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Softmax +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原位转置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657975" y="4953000"/>
            <a:ext cx="48863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两遍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Softmax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max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归约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归一化）避免片外流量；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GEMV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块内原位转置免去全局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Kᵀ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存储，并原生支持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GQA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广播。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'1280px', height:'720px', background:'#F7F9FC', padding:0 }}&gt;&#10;  &lt;Box style={{ display:'flex', flexDirection:'row', height:'100%' }}&gt;&#10;    &lt;Box style={{ width:340, background:'#0E3F8C', display:'flex', flexDirection:'column', justifyContent:'center', alignItems:'center' }}&gt;&#10;      &lt;Text style={{ fontSize:200, fontWeight:'bold', color:'#FFFFFF' }}&gt;04&lt;/Text&gt;&#10;    &lt;/Box&gt;&#10;    &lt;Box style={{ flex:1, padding:'90px 64px', display:'flex', flexDirection:'column', justifyContent:'center' }}&gt;&#10;      &lt;Text style={{ fontSize:18, color:'#3D7BD9', fontWeight:'bold', letterSpacing:3 }}&gt;CHAPTER 04&lt;/Text&gt;&#10;      &lt;Text style={{ fontSize:48, fontWeight:'bold', color:'#0E3F8C', marginBottom:30, lineHeight:1.3 }}&gt;评估 · 讨论 · 结论&lt;/Text&gt;&#10;      &lt;Box style={{ borderLeft:'4px solid #D9534F', paddingLeft:22, display:'flex', flexDirection:'column', gap:18 }}&gt;&#10;        &lt;Text style={{ fontSize:22, color:'#1A2230' }}&gt;· 真实系统实验结果（吞吐 / 能耗）&lt;/Text&gt;&#10;        &lt;Text style={{ fontSize:22, color:'#1A2230' }}&gt;· 对 ISP 与 CXL 架构的适用性&lt;/Text&gt;&#10;        &lt;Text style={{ fontSize:22, color:'#1A2230' }}&gt;· 总结与启示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47675" y="2286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48100" y="2266950"/>
            <a:ext cx="773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3D7BD9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48100" y="2476500"/>
            <a:ext cx="7734300" cy="714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评估</a:t>
            </a: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讨论</a:t>
            </a:r>
            <a:r>
              <a:rPr lang="en-US" sz="36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848100" y="3476625"/>
            <a:ext cx="7772400" cy="1114425"/>
          </a:xfrm>
          <a:custGeom>
            <a:pathLst>
              <a:path w="816" h="117">
                <a:moveTo>
                  <a:pt x="0" y="0"/>
                </a:moveTo>
                <a:lnTo>
                  <a:pt x="4" y="0"/>
                </a:lnTo>
                <a:lnTo>
                  <a:pt x="4" y="117"/>
                </a:lnTo>
                <a:lnTo>
                  <a:pt x="0" y="117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095750" y="347662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真实系统实验结果（吞吐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能耗）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095750" y="3905250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ISP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CXL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架构的适用性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095750" y="4333875"/>
            <a:ext cx="7486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总结与启示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9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4 · 评估 · 讨论 · 结论&lt;/Text&gt;&#10;    &lt;Text style={{ fontSize:31, fontWeight:'bold', color:'#1E4FA8' }}&gt;实验结果：真实系统实测&lt;/Text&gt;&#10;  &lt;/Box&gt;&#10;  &lt;Box style={{ height:574, paddingLeft:48, paddingRight:48, paddingTop:18, display:'flex', flexDirection:'row', gap:26 }}&gt;&#10;    &lt;Box style={{ width:700, display:'flex', flexDirection:'column', alignItems:'center', justifyContent:'center', gap:8 }}&gt;&#10;      &lt;Image src=&quot;hilos_src/assets/fig10.png&quot; style={{ width:660, height:310, objectFit:'contain' }} /&gt;&#10;      &lt;Text style={{ fontSize:12, color:'#8B97A8', textAlign:'center' }}&gt;图 10：HILOS 与基线的归一化解码吞吐（30B / 66B / 185B）&lt;/Text&gt;&#10;    &lt;/Box&gt;&#10;    &lt;Box style={{ flex:1, display:'flex', flexDirection:'column', gap:10, justifyContent:'center' }}&gt;&#10;      {[&#10;        { n:'7.86×', l:'吞吐量提升', s:'最高（vs SOTA 卸载）', c:'#D9534F' },&#10;        { n:'85%', l:'能耗降低', s:'最高降幅', c:'#1E4FA8' },&#10;        { n:'16', l:'块 SmartSSD', s:'真实 NSP 设备', c:'#1E4FA8' },&#10;        { n:'&gt;100K', l:'上下文长度', s:'长上下文离线推理', c:'#1E4FA8' },&#10;      ].map((k, i) =&gt; (&#10;        &lt;Box key={i} style={{ flex:1, display:'flex', flexDirection:'row', alignItems:'center', gap:14, background:'#F7F9FC', borderRadius:8, paddingLeft:18, paddingRight:14 }}&gt;&#10;          &lt;Text style={{ width:150, fontSize:42, fontWeight:'bold', color:k.c, lineHeight:1 }}&gt;{k.n}&lt;/Text&gt;&#10;          &lt;Box style={{ display:'flex', flexDirection:'column' }}&gt;&#10;            &lt;Text style={{ fontSize:19, fontWeight:'bold', color:'#0E3F8C' }}&gt;{k.l}&lt;/Text&gt;&#10;            &lt;Text style={{ fontSize:14, color:'#4A5568' }}&gt;{k.s}&lt;/Text&gt;&#10;          &lt;/Box&gt;&#10;        &lt;/Box&gt;&#10;      ))}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评估</a:t>
            </a: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讨论</a:t>
            </a: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实验结果：真实系统实测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 r:embed="rId1"/>
          <a:srcRect l="58" t="0" r="58" b="0"/>
          <a:stretch>
            <a:fillRect/>
          </a:stretch>
        </p:blipFill>
        <p:spPr>
          <a:xfrm rot="0" flipH="0" flipV="0">
            <a:off x="647700" y="2095500"/>
            <a:ext cx="6286500" cy="295275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2209800" y="5124450"/>
            <a:ext cx="31718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与基线的归一化解码吞吐（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30B / 66B / 185B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7372350" y="1028700"/>
            <a:ext cx="436245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543800" y="1419225"/>
            <a:ext cx="1428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D9534F"/>
                </a:solidFill>
                <a:latin typeface="Microsoft YaHei"/>
                <a:ea typeface="Microsoft YaHei"/>
              </a:rPr>
              <a:t>7.86×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105900" y="146685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吞吐量提升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105900" y="1685925"/>
            <a:ext cx="1352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最高（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vs SOTA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卸载）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372350" y="2381250"/>
            <a:ext cx="4362450" cy="1247775"/>
          </a:xfrm>
          <a:prstGeom prst="roundRect">
            <a:avLst>
              <a:gd name="adj" fmla="val 610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43800" y="2762250"/>
            <a:ext cx="1428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85%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105900" y="28194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能耗降低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105900" y="303847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最高降幅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372350" y="3724275"/>
            <a:ext cx="436245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543800" y="4114800"/>
            <a:ext cx="1428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105900" y="4162425"/>
            <a:ext cx="115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块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SmartSSD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105900" y="4381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NSP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设备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372350" y="5076825"/>
            <a:ext cx="4362450" cy="1247775"/>
          </a:xfrm>
          <a:prstGeom prst="roundRect">
            <a:avLst>
              <a:gd name="adj" fmla="val 610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43800" y="5457825"/>
            <a:ext cx="1428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&gt;100K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105900" y="5514975"/>
            <a:ext cx="106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上下文长度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105900" y="57340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长上下文离线推理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5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04 · 评估 · 讨论 · 结论&lt;/Text&gt;&#10;    &lt;Text style={{ fontSize:31, fontWeight:'bold', color:'#1E4FA8' }}&gt;讨论：适用性与未来架构&lt;/Text&gt;&#10;  &lt;/Box&gt;&#10;  &lt;Box style={{ height:574, paddingLeft:48, paddingRight:48, paddingTop:18, display:'flex', flexDirection:'row', gap:28 }}&gt;&#10;    &lt;Box style={{ width:660, display:'flex', flexDirection:'column', gap:12 }}&gt;&#10;      &lt;Box style={{ flex:1, background:'#F0F5FC', borderLeft:'5px solid #1E4FA8', borderRadius:8, padding:'14px 20px', display:'flex', flexDirection:'column', justifyContent:'center', gap:4 }}&gt;&#10;        &lt;Text style={{ fontSize:21, fontWeight:'bold', color:'#0E3F8C' }}&gt;① 存内处理（ISP）&lt;/Text&gt;&#10;        &lt;Text style={{ fontSize:15, color:'#1A2230', lineHeight:1.45 }}&gt;单设备内部带宽大幅跃升；ANS / X-cache / 延迟回写可直接迁移到 ISP 设备。&lt;/Text&gt;&#10;      &lt;/Box&gt;&#10;      &lt;Box style={{ flex:1, background:'#F0F5FC', borderLeft:'5px solid #3D7BD9', borderRadius:8, padding:'14px 20px', display:'flex', flexDirection:'column', justifyContent:'center', gap:4 }}&gt;&#10;        &lt;Text style={{ fontSize:21, fontWeight:'bold', color:'#0E3F8C' }}&gt;② 未来计算存储设备（CSD）&lt;/Text&gt;&#10;        &lt;Text style={{ fontSize:15, color:'#1A2230', lineHeight:1.45 }}&gt;需专用指数函数单元（softmax 占 大于50% 时间）；独立时钟域 + 粗粒度 FTL 更均衡容量-带宽。&lt;/Text&gt;&#10;      &lt;/Box&gt;&#10;      &lt;Box style={{ flex:1, background:'#F0F5FC', borderLeft:'5px solid #D9534F', borderRadius:8, padding:'14px 20px', display:'flex', flexDirection:'column', justifyContent:'center', gap:4 }}&gt;&#10;        &lt;Text style={{ fontSize:21, fontWeight:'bold', color:'#0E3F8C' }}&gt;③ CXL.mem&lt;/Text&gt;&#10;        &lt;Text style={{ fontSize:15, color:'#1A2230', lineHeight:1.45 }}&gt;统一地址空间消除显式 DMA 编排，降低缓存管理开销。&lt;/Text&gt;&#10;      &lt;/Box&gt;&#10;    &lt;/Box&gt;&#10;    &lt;Box style={{ flex:1, display:'flex', flexDirection:'column', justifyContent:'center', gap:8 }}&gt;&#10;      &lt;Box style={{ width:460, height:280, background:'#F7FAFE', border:'1px solid #E2E8F2', borderRadius:12, display:'flex', alignItems:'center', justifyContent:'center' }}&gt;&#10;        &lt;svg viewBox=&quot;0 0 460 280&quot; width=&quot;460&quot; height=&quot;280&quot; xmlns=&quot;http://www.w3.org/2000/svg&quot;&gt;&#10;          &lt;defs&gt;&#10;            &lt;marker id=&quot;p16blue&quot; markerWidth=&quot;10&quot; markerHeight=&quot;10&quot; refX=&quot;7&quot; refY=&quot;4&quot; orient=&quot;auto&quot;&gt;&lt;path d=&quot;M0,0 L8,3.5 L0,7 Z&quot; fill=&quot;#1E4FA8&quot;/&gt;&lt;/marker&gt;&#10;            &lt;marker id=&quot;p16green&quot; markerWidth=&quot;10&quot; markerHeight=&quot;10&quot; refX=&quot;7&quot; refY=&quot;4&quot; orient=&quot;auto&quot;&gt;&lt;path d=&quot;M0,0 L8,3.5 L0,7 Z&quot; fill=&quot;#2E8B57&quot;/&gt;&lt;/marker&gt;&#10;          &lt;/defs&gt;&#10;          &lt;rect x=&quot;30&quot; y=&quot;18&quot; width=&quot;400&quot; height=&quot;64&quot; rx=&quot;12&quot; fill=&quot;#E8F8EE&quot; stroke=&quot;#2E8B57&quot; stroke-width=&quot;2&quot;/&gt;&#10;          &lt;text font-family=&quot;Microsoft YaHei, SimHei, sans-serif&quot; x=&quot;230&quot; y=&quot;48&quot; text-anchor=&quot;middle&quot; font-size=&quot;17&quot; fill=&quot;#1E7A46&quot; font-weight=&quot;bold&quot;&gt;已在 16 块 SmartSSD 实测&lt;/text&gt;&#10;          &lt;text font-family=&quot;Microsoft YaHei, SimHei, sans-serif&quot; x=&quot;230&quot; y=&quot;72&quot; text-anchor=&quot;middle&quot; font-size=&quot;13&quot; fill=&quot;#1A2230&quot;&gt;精度损失可忽略（LongBench 验证）&lt;/text&gt;&#10;          &lt;text font-family=&quot;Microsoft YaHei, SimHei, sans-serif&quot; x=&quot;230&quot; y=&quot;112&quot; text-anchor=&quot;middle&quot; font-size=&quot;14&quot; fill=&quot;#0E3F8C&quot; font-weight=&quot;bold&quot;&gt;方案可迁移到未来架构 -&gt;&lt;/text&gt;&#10;          &lt;rect x=&quot;30&quot; y=&quot;130&quot; width=&quot;120&quot; height=&quot;72&quot; rx=&quot;10&quot; fill=&quot;#E8EFF8&quot; stroke=&quot;#1E4FA8&quot; stroke-width=&quot;1.5&quot;/&gt;&lt;text font-family=&quot;Microsoft YaHei, SimHei, sans-serif&quot; x=&quot;90&quot; y=&quot;162&quot; text-anchor=&quot;middle&quot; font-size=&quot;16&quot; fill=&quot;#0E3F8C&quot; font-weight=&quot;bold&quot;&gt;ISP&lt;/text&gt;&lt;text font-family=&quot;Microsoft YaHei, SimHei, sans-serif&quot; x=&quot;90&quot; y=&quot;185&quot; text-anchor=&quot;middle&quot; font-size=&quot;13&quot; fill=&quot;#1A2230&quot;&gt;存内处理&lt;/text&gt;&#10;          &lt;rect x=&quot;170&quot; y=&quot;130&quot; width=&quot;120&quot; height=&quot;72&quot; rx=&quot;10&quot; fill=&quot;#E8EFF8&quot; stroke=&quot;#1E4FA8&quot; stroke-width=&quot;1.5&quot;/&gt;&lt;text font-family=&quot;Microsoft YaHei, SimHei, sans-serif&quot; x=&quot;230&quot; y=&quot;162&quot; text-anchor=&quot;middle&quot; font-size=&quot;16&quot; fill=&quot;#0E3F8C&quot; font-weight=&quot;bold&quot;&gt;CSD&lt;/text&gt;&lt;text font-family=&quot;Microsoft YaHei, SimHei, sans-serif&quot; x=&quot;230&quot; y=&quot;185&quot; text-anchor=&quot;middle&quot; font-size=&quot;13&quot; fill=&quot;#1A2230&quot;&gt;计算存储&lt;/text&gt;&#10;          &lt;rect x=&quot;310&quot; y=&quot;130&quot; width=&quot;120&quot; height=&quot;72&quot; rx=&quot;10&quot; fill=&quot;#E8EFF8&quot; stroke=&quot;#1E4FA8&quot; stroke-width=&quot;1.5&quot;/&gt;&lt;text font-family=&quot;Microsoft YaHei, SimHei, sans-serif&quot; x=&quot;370&quot; y=&quot;162&quot; text-anchor=&quot;middle&quot; font-size=&quot;16&quot; fill=&quot;#0E3F8C&quot; font-weight=&quot;bold&quot;&gt;CXL&lt;/text&gt;&lt;text font-family=&quot;Microsoft YaHei, SimHei, sans-serif&quot; x=&quot;370&quot; y=&quot;185&quot; text-anchor=&quot;middle&quot; font-size=&quot;13&quot; fill=&quot;#1A2230&quot;&gt;统一地址&lt;/text&gt;&#10;          &lt;line x1=&quot;90&quot; y1=&quot;104&quot; x2=&quot;90&quot; y2=&quot;128&quot; stroke=&quot;#2E8B57&quot; stroke-width=&quot;3&quot; marker-end=&quot;url(#p16green)&quot;/&gt;&#10;          &lt;line x1=&quot;230&quot; y1=&quot;104&quot; x2=&quot;230&quot; y2=&quot;128&quot; stroke=&quot;#2E8B57&quot; stroke-width=&quot;3&quot; marker-end=&quot;url(#p16green)&quot;/&gt;&#10;          &lt;line x1=&quot;370&quot; y1=&quot;104&quot; x2=&quot;370&quot; y2=&quot;128&quot; stroke=&quot;#2E8B57&quot; stroke-width=&quot;3&quot; marker-end=&quot;url(#p16green)&quot;/&gt;&#10;          &lt;text font-family=&quot;Microsoft YaHei, SimHei, sans-serif&quot; x=&quot;230&quot; y=&quot;248&quot; text-anchor=&quot;middle&quot; font-size=&quot;13&quot; fill=&quot;#4A5568&quot;&gt;实测每块 SSD 容量 不足 600GB：少容量、多带宽更划算&lt;/text&gt;&#10;        &lt;/svg&gt;&#10;      &lt;/Box&gt;&#10;      &lt;Text style={{ fontSize:12, color:'#8B97A8', lineHeight:1.4 }}&gt;示意图：HILOS 已在真实硬件验证，并可迁移到 ISP / CSD / CXL&lt;/Text&gt;&#10;      &lt;Box style={{ background:'#F0F5FC', borderLeft:'4px solid #1E4FA8', padding:'10px 14px', borderRadius:6 }}&gt;&#10;        &lt;Text style={{ fontSize:15, color:'#1A2230', lineHeight:1.45 }}&gt;实测每块 SSD 容量利用 &lt;span style={{ fontWeight:'bold', color:'#D9534F' }}&gt;小于600GB&lt;/span&gt;：更少容量、更多带宽与算力更划算。&lt;/Text&gt;&#10;      &lt;/Box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评估</a:t>
            </a: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讨论</a:t>
            </a: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讨论：适用性与未来架构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04825" y="1028700"/>
            <a:ext cx="6286500" cy="1609725"/>
          </a:xfrm>
          <a:prstGeom prst="roundRect">
            <a:avLst>
              <a:gd name="adj" fmla="val 473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04825" y="1028700"/>
            <a:ext cx="6286500" cy="1609725"/>
          </a:xfrm>
          <a:custGeom>
            <a:pathLst>
              <a:path w="660" h="16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66"/>
                </a:lnTo>
                <a:cubicBezTo>
                  <a:pt x="5" y="168"/>
                  <a:pt x="6" y="169"/>
                  <a:pt x="8" y="169"/>
                </a:cubicBezTo>
                <a:cubicBezTo>
                  <a:pt x="3" y="169"/>
                  <a:pt x="0" y="165"/>
                  <a:pt x="0" y="1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95325" y="1562100"/>
            <a:ext cx="5857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存内处理（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ISP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95325" y="1847850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单设备内部带宽大幅跃升；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ANS / X-cache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延迟回写可直接迁移到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ISP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设备。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04825" y="2752725"/>
            <a:ext cx="6286500" cy="1847850"/>
          </a:xfrm>
          <a:prstGeom prst="roundRect">
            <a:avLst>
              <a:gd name="adj" fmla="val 41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504825" y="2752725"/>
            <a:ext cx="6286500" cy="1847850"/>
          </a:xfrm>
          <a:custGeom>
            <a:pathLst>
              <a:path w="660" h="19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91"/>
                </a:lnTo>
                <a:cubicBezTo>
                  <a:pt x="5" y="193"/>
                  <a:pt x="6" y="194"/>
                  <a:pt x="8" y="194"/>
                </a:cubicBezTo>
                <a:cubicBezTo>
                  <a:pt x="3" y="194"/>
                  <a:pt x="0" y="190"/>
                  <a:pt x="0" y="1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5325" y="3286125"/>
            <a:ext cx="5857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未来计算存储设备（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CSD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95325" y="3571875"/>
            <a:ext cx="58578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需专用指数函数单元（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softmax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占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大于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50%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时间）；独立时钟域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粗粒度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FTL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更均衡容量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-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带宽。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04825" y="4714875"/>
            <a:ext cx="6286500" cy="1609725"/>
          </a:xfrm>
          <a:prstGeom prst="roundRect">
            <a:avLst>
              <a:gd name="adj" fmla="val 473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504825" y="4714875"/>
            <a:ext cx="6286500" cy="1609725"/>
          </a:xfrm>
          <a:custGeom>
            <a:pathLst>
              <a:path w="660" h="169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66"/>
                </a:lnTo>
                <a:cubicBezTo>
                  <a:pt x="5" y="168"/>
                  <a:pt x="6" y="169"/>
                  <a:pt x="8" y="169"/>
                </a:cubicBezTo>
                <a:cubicBezTo>
                  <a:pt x="3" y="169"/>
                  <a:pt x="0" y="165"/>
                  <a:pt x="0" y="16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95325" y="5248275"/>
            <a:ext cx="5857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③ CXL.mem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95325" y="5534025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统一地址空间消除显式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DMA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编排，降低缓存管理开销。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010400" y="1819275"/>
            <a:ext cx="4381500" cy="2667000"/>
          </a:xfrm>
          <a:prstGeom prst="roundRect">
            <a:avLst>
              <a:gd name="adj" fmla="val 4286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010400" y="1819275"/>
            <a:ext cx="4381500" cy="266700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010400" y="4562475"/>
            <a:ext cx="4724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示意图：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已在真实硬件验证，并可迁移到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ISP / CSD / CXL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048500" y="4838700"/>
            <a:ext cx="4724400" cy="695325"/>
          </a:xfrm>
          <a:prstGeom prst="roundRect">
            <a:avLst>
              <a:gd name="adj" fmla="val 821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7048500" y="4838700"/>
            <a:ext cx="4724400" cy="695325"/>
          </a:xfrm>
          <a:custGeom>
            <a:pathLst>
              <a:path w="496" h="7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1"/>
                </a:lnTo>
                <a:cubicBezTo>
                  <a:pt x="4" y="72"/>
                  <a:pt x="5" y="73"/>
                  <a:pt x="6" y="73"/>
                </a:cubicBezTo>
                <a:cubicBezTo>
                  <a:pt x="3" y="73"/>
                  <a:pt x="0" y="70"/>
                  <a:pt x="0" y="6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181850" y="4933950"/>
            <a:ext cx="4419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实测每块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SSD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容量利用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小于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600GB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：更少容量、更多带宽与算力更划算。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'1280px', height:'720px', background:'#0E3F8C', padding:0 }}&gt;&#10;  &lt;Box style={{ display:'flex', flexDirection:'column', alignItems:'center', justifyContent:'center', height:'100%', padding:'0 80px' }}&gt;&#10;    &lt;Text style={{ fontSize:18, color:'#9DB4E8', fontWeight:'bold', letterSpacing:3, marginBottom:24 }}&gt;CONCLUSION · 结论&lt;/Text&gt;&#10;    &lt;Text style={{ fontSize:40, fontWeight:'bold', color:'#FFFFFF', textAlign:'center', lineHeight:1.4, marginBottom:30 }}&gt;&#10;      把 KV-cache 相关操作卸载到近存储加速器，&lt;br /&gt;让长上下文 LLM 离线推理更快、更省。&#10;    &lt;/Text&gt;&#10;    &lt;Box style={{ display:'flex', flexDirection:'row', gap:40, marginBottom:34 }}&gt;&#10;      &lt;Box style={{ display:'flex', flexDirection:'column', alignItems:'center' }}&gt;&#10;        &lt;Text style={{ fontSize:52, fontWeight:'bold', color:'#FFC107' }}&gt;7.86×&lt;/Text&gt;&#10;        &lt;Text style={{ fontSize:18, color:'#DCE6F7' }}&gt;吞吐提升&lt;/Text&gt;&#10;      &lt;/Box&gt;&#10;      &lt;Box style={{ display:'flex', flexDirection:'column', alignItems:'center' }}&gt;&#10;        &lt;Text style={{ fontSize:52, fontWeight:'bold', color:'#FFC107' }}&gt;85%&lt;/Text&gt;&#10;        &lt;Text style={{ fontSize:18, color:'#DCE6F7' }}&gt;能耗降低&lt;/Text&gt;&#10;      &lt;/Box&gt;&#10;    &lt;/Box&gt;&#10;    &lt;Box style={{ display:'flex', flexDirection:'row', gap:28 }}&gt;&#10;      {[&#10;        { t:'为什么', d:'KV Cache I/O 占 60%+ 时间' },&#10;        { t:'怎么做', d:'NSP + 四项协同设计' },&#10;        { t:'效果', d:'真实系统实测验证' },&#10;      ].map((c, i) =&gt; (&#10;        &lt;Box key={i} style={{ background:'rgba(255,255,255,0.08)', border:'1px solid rgba(255,255,255,0.25)', borderRadius:10, padding:'14px 26px', display:'flex', flexDirection:'column', alignItems:'center', width:230 }}&gt;&#10;          &lt;Text style={{ fontSize:20, fontWeight:'bold', color:'#FFFFFF' }}&gt;{c.t}&lt;/Text&gt;&#10;          &lt;Text style={{ fontSize:15, color:'#C7D6F0', textAlign:'center', marginTop:6 }}&gt;{c.d}&lt;/Text&gt;&#10;        &lt;/Box&gt;&#10;      ))}&#10;    &lt;/Box&gt;&#10;    &lt;Text style={{ fontSize:16, color:'#9DB4E8', marginTop:36 }}&gt;HILOS · A Cost-Effective Near-Storage Processing Solution for Offline Inference of Long-Context LLMs（ASPLOS '26）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029200" y="114300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9DB4E8"/>
                </a:solidFill>
                <a:latin typeface="Microsoft YaHei"/>
                <a:ea typeface="Microsoft YaHei"/>
              </a:rPr>
              <a:t xml:space="preserve">CONCLUSION · </a:t>
            </a:r>
            <a:r>
              <a:rPr lang="zh-CN" sz="1350" b="1" spc="225">
                <a:solidFill>
                  <a:srgbClr val="9DB4E8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228850" y="1581150"/>
            <a:ext cx="7734300" cy="12858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KV-cache 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相关操作卸载到近存储加速器，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让长上下文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离线推理更快、更省。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648200" y="3152775"/>
            <a:ext cx="14382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C107"/>
                </a:solidFill>
                <a:latin typeface="Microsoft YaHei"/>
                <a:ea typeface="Microsoft YaHei"/>
              </a:rPr>
              <a:t>7.86×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029200" y="3752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CE6F7"/>
                </a:solidFill>
                <a:latin typeface="Microsoft YaHei"/>
                <a:ea typeface="Microsoft YaHei"/>
              </a:rPr>
              <a:t>吞吐提升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467475" y="3152775"/>
            <a:ext cx="1076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C107"/>
                </a:solidFill>
                <a:latin typeface="Microsoft YaHei"/>
                <a:ea typeface="Microsoft YaHei"/>
              </a:rPr>
              <a:t>85%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667500" y="3752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CE6F7"/>
                </a:solidFill>
                <a:latin typeface="Microsoft YaHei"/>
                <a:ea typeface="Microsoft YaHei"/>
              </a:rPr>
              <a:t>能耗降低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2543175" y="4286250"/>
            <a:ext cx="2190750" cy="895350"/>
          </a:xfrm>
          <a:prstGeom prst="roundRect">
            <a:avLst>
              <a:gd name="adj" fmla="val 106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352800" y="4419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为什么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790825" y="4705350"/>
            <a:ext cx="1695450" cy="3429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C7D6F0"/>
                </a:solidFill>
                <a:latin typeface="Microsoft YaHei"/>
                <a:ea typeface="Microsoft YaHei"/>
              </a:rPr>
              <a:t xml:space="preserve">KV Cache I/O </a:t>
            </a:r>
            <a:r>
              <a:rPr lang="zh-CN" sz="1125">
                <a:solidFill>
                  <a:srgbClr val="C7D6F0"/>
                </a:solidFill>
                <a:latin typeface="Microsoft YaHei"/>
                <a:ea typeface="Microsoft YaHei"/>
              </a:rPr>
              <a:t>占</a:t>
            </a:r>
            <a:r>
              <a:rPr lang="en-US" sz="1125">
                <a:solidFill>
                  <a:srgbClr val="C7D6F0"/>
                </a:solidFill>
                <a:latin typeface="Microsoft YaHei"/>
                <a:ea typeface="Microsoft YaHei"/>
              </a:rPr>
              <a:t xml:space="preserve"> 60%+ </a:t>
            </a:r>
            <a:r>
              <a:rPr lang="zh-CN" sz="1125">
                <a:solidFill>
                  <a:srgbClr val="C7D6F0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000625" y="4286250"/>
            <a:ext cx="2190750" cy="895350"/>
          </a:xfrm>
          <a:prstGeom prst="roundRect">
            <a:avLst>
              <a:gd name="adj" fmla="val 106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810250" y="441960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怎么做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429250" y="4705350"/>
            <a:ext cx="1343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C7D6F0"/>
                </a:solidFill>
                <a:latin typeface="Microsoft YaHei"/>
                <a:ea typeface="Microsoft YaHei"/>
              </a:rPr>
              <a:t xml:space="preserve">NSP + </a:t>
            </a:r>
            <a:r>
              <a:rPr lang="zh-CN" sz="1125">
                <a:solidFill>
                  <a:srgbClr val="C7D6F0"/>
                </a:solidFill>
                <a:latin typeface="Microsoft YaHei"/>
                <a:ea typeface="Microsoft YaHei"/>
              </a:rPr>
              <a:t>四项协同设计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458075" y="4286250"/>
            <a:ext cx="2190750" cy="895350"/>
          </a:xfrm>
          <a:prstGeom prst="roundRect">
            <a:avLst>
              <a:gd name="adj" fmla="val 1063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62950" y="4419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效果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981950" y="4705350"/>
            <a:ext cx="11430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C7D6F0"/>
                </a:solidFill>
                <a:latin typeface="Microsoft YaHei"/>
                <a:ea typeface="Microsoft YaHei"/>
              </a:rPr>
              <a:t>真实系统实测验证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828800" y="5524500"/>
            <a:ext cx="853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DB4E8"/>
                </a:solidFill>
                <a:latin typeface="Microsoft YaHei"/>
                <a:ea typeface="Microsoft YaHei"/>
              </a:rPr>
              <a:t>HILOS · A Cost-Effective Near-Storage Processing Solution for Offline Inference of Long-Context LLMs</a:t>
            </a:r>
            <a:r>
              <a:rPr lang="zh-CN" sz="1200">
                <a:solidFill>
                  <a:srgbClr val="9DB4E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9DB4E8"/>
                </a:solidFill>
                <a:latin typeface="Microsoft YaHei"/>
                <a:ea typeface="Microsoft YaHei"/>
              </a:rPr>
              <a:t>ASPLOS '26</a:t>
            </a:r>
            <a:r>
              <a:rPr lang="zh-CN" sz="1200">
                <a:solidFill>
                  <a:srgbClr val="9DB4E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9" name="" descr="&lt;Slide style={{ width:'1280px', height:'720px', background:'#FFFFFF', padding:0 }}&gt;&#10;  &lt;Box style={{ height:90, paddingLeft:48, paddingRight:48, paddingTop:14, borderBottom:'2px solid #1E4FA8', display:'flex', flexDirection:'column', justifyContent:'center' }}&gt;&#10;    &lt;Text style={{ fontSize:15, color:'#3D7BD9', fontWeight:'bold', letterSpacing:2 }}&gt;总结 · 全文回顾&lt;/Text&gt;&#10;    &lt;Text style={{ fontSize:31, fontWeight:'bold', color:'#1E4FA8' }}&gt;一张图回顾 HILOS：背景 -&gt; 问题 -&gt; 思路 -&gt; 方案 -&gt; 效果&lt;/Text&gt;&#10;  &lt;/Box&gt;&#10;  &lt;Box style={{ height:574, paddingLeft:32, paddingRight:32, paddingTop:14, display:'flex', flexDirection:'column', alignItems:'center', justifyContent:'center', gap:10 }}&gt;&#10;    &lt;Text style={{ fontSize:16, color:'#5F6B7A' }}&gt;讲完了，把所有内容收回到这一条主线上&lt;/Text&gt;&#10;    &lt;Box style={{ width:1180, height:500, background:'#F7FAFE', border:'1px solid #E2E8F2', borderRadius:12, display:'flex', alignItems:'center', justifyContent:'center' }}&gt;&#10;      &lt;svg viewBox=&quot;0 0 1180 440&quot; width=&quot;1150&quot; height=&quot;428&quot; xmlns=&quot;http://www.w3.org/2000/svg&quot; font-family=&quot;Microsoft YaHei, SimHei, sans-serif&quot;&gt;&#10;        &lt;defs&gt;&#10;          &lt;marker id=&quot;hArrow&quot; markerWidth=&quot;10&quot; markerHeight=&quot;10&quot; refX=&quot;8&quot; refY=&quot;5&quot; orient=&quot;auto&quot;&gt;&lt;path d=&quot;M0,0 L9,5 L0,10 Z&quot; fill=&quot;#5F5E5A&quot;/&gt;&lt;/marker&gt;&#10;        &lt;/defs&gt;&#10;&#10;        &lt;rect x=&quot;24&quot; y=&quot;30&quot; width=&quot;262&quot; height=&quot;300&quot; rx=&quot;12&quot; fill=&quot;#E6F1FB&quot; stroke=&quot;#185FA5&quot; stroke-width=&quot;1.5&quot;/&gt;&#10;        &lt;text font-family=&quot;Microsoft YaHei, SimHei, sans-serif&quot; x=&quot;155&quot; y=&quot;64&quot; text-anchor=&quot;middle&quot; font-size=&quot;18&quot; font-weight=&quot;bold&quot; fill=&quot;#0C447C&quot;&gt;① 背景：怎么干活&lt;/text&gt;&#10;        &lt;line x1=&quot;44&quot; y1=&quot;82&quot; x2=&quot;266&quot; y2=&quot;82&quot; stroke=&quot;#9CC3E8&quot; stroke-width=&quot;1&quot;/&gt;&#10;        &lt;text font-family=&quot;Microsoft YaHei, SimHei, sans-serif&quot; x=&quot;155&quot; y=&quot;118&quot; text-anchor=&quot;middle&quot; font-size=&quot;13.5&quot; fill=&quot;#444441&quot;&gt;大模型逐字生成回答，&lt;/text&gt;&#10;        &lt;text font-family=&quot;Microsoft YaHei, SimHei, sans-serif&quot; x=&quot;155&quot; y=&quot;144&quot; text-anchor=&quot;middle&quot; font-size=&quot;13.5&quot; fill=&quot;#444441&quot;&gt;靠 KV Cache 存&quot;笔记&quot;&lt;/text&gt;&#10;        &lt;text font-family=&quot;Microsoft YaHei, SimHei, sans-serif&quot; x=&quot;155&quot; y=&quot;170&quot; text-anchor=&quot;middle&quot; font-size=&quot;13.5&quot; fill=&quot;#444441&quot;&gt;上下文越长，笔记越厚&lt;/text&gt;&#10;        &lt;text font-family=&quot;Microsoft YaHei, SimHei, sans-serif&quot; x=&quot;155&quot; y=&quot;216&quot; text-anchor=&quot;middle&quot; font-size=&quot;15&quot; font-weight=&quot;bold&quot; fill=&quot;#185FA5&quot;&gt;笔记可达 TB 级&lt;/text&gt;&#10;        &lt;text font-family=&quot;Microsoft YaHei, SimHei, sans-serif&quot; x=&quot;155&quot; y=&quot;306&quot; text-anchor=&quot;middle&quot; font-size=&quot;12&quot; fill=&quot;#7A8AA0&quot;&gt;详见 P04&lt;/text&gt;&#10;&#10;        &lt;line x1=&quot;288&quot; y1=&quot;180&quot; x2=&quot;312&quot; y2=&quot;180&quot; stroke=&quot;#5F5E5A&quot; stroke-width=&quot;2&quot; marker-end=&quot;url(#hArrow)&quot;/&gt;&#10;&#10;        &lt;rect x=&quot;314&quot; y=&quot;30&quot; width=&quot;262&quot; height=&quot;300&quot; rx=&quot;12&quot; fill=&quot;#FAECE7&quot; stroke=&quot;#993C1D&quot; stroke-width=&quot;1.5&quot;/&gt;&#10;        &lt;text font-family=&quot;Microsoft YaHei, SimHei, sans-serif&quot; x=&quot;445&quot; y=&quot;64&quot; text-anchor=&quot;middle&quot; font-size=&quot;18&quot; font-weight=&quot;bold&quot; fill=&quot;#712B13&quot;&gt;② 核心问题&lt;/text&gt;&#10;        &lt;line x1=&quot;334&quot; y1=&quot;82&quot; x2=&quot;556&quot; y2=&quot;82&quot; stroke=&quot;#E0B6A4&quot; stroke-width=&quot;1&quot;/&gt;&#10;        &lt;text font-family=&quot;Microsoft YaHei, SimHei, sans-serif&quot; x=&quot;445&quot; y=&quot;118&quot; text-anchor=&quot;middle&quot; font-size=&quot;13.5&quot; fill=&quot;#444441&quot;&gt;KV 塞不进单张 GPU&lt;/text&gt;&#10;        &lt;text font-family=&quot;Microsoft YaHei, SimHei, sans-serif&quot; x=&quot;445&quot; y=&quot;144&quot; text-anchor=&quot;middle&quot; font-size=&quot;13.5&quot; fill=&quot;#444441&quot;&gt;每次生成都要搬进搬出&lt;/text&gt;&#10;        &lt;text font-family=&quot;Microsoft YaHei, SimHei, sans-serif&quot; x=&quot;445&quot; y=&quot;170&quot; text-anchor=&quot;middle&quot; font-size=&quot;13.5&quot; fill=&quot;#444441&quot;&gt;搬运吞掉大量时间&lt;/text&gt;&#10;        &lt;text font-family=&quot;Microsoft YaHei, SimHei, sans-serif&quot; x=&quot;445&quot; y=&quot;216&quot; text-anchor=&quot;middle&quot; font-size=&quot;15&quot; font-weight=&quot;bold&quot; fill=&quot;#993C1D&quot;&gt;超 60% 时间花在 I/O&lt;/text&gt;&#10;        &lt;text font-family=&quot;Microsoft YaHei, SimHei, sans-serif&quot; x=&quot;445&quot; y=&quot;306&quot; text-anchor=&quot;middle&quot; font-size=&quot;12&quot; fill=&quot;#7A8AA0&quot;&gt;详见 P05&lt;/text&gt;&#10;&#10;        &lt;line x1=&quot;578&quot; y1=&quot;180&quot; x2=&quot;602&quot; y2=&quot;180&quot; stroke=&quot;#5F5E5A&quot; stroke-width=&quot;2&quot; marker-end=&quot;url(#hArrow)&quot;/&gt;&#10;&#10;        &lt;rect x=&quot;604&quot; y=&quot;30&quot; width=&quot;262&quot; height=&quot;300&quot; rx=&quot;12&quot; fill=&quot;#FCF3DD&quot; stroke=&quot;#B8860B&quot; stroke-width=&quot;1.5&quot;/&gt;&#10;        &lt;text font-family=&quot;Microsoft YaHei, SimHei, sans-serif&quot; x=&quot;735&quot; y=&quot;64&quot; text-anchor=&quot;middle&quot; font-size=&quot;18&quot; font-weight=&quot;bold&quot; fill=&quot;#6B4E00&quot;&gt;③ 破局思路&lt;/text&gt;&#10;        &lt;line x1=&quot;624&quot; y1=&quot;82&quot; x2=&quot;846&quot; y2=&quot;82&quot; stroke=&quot;#E6CE8F&quot; stroke-width=&quot;1&quot;/&gt;&#10;        &lt;text font-family=&quot;Microsoft YaHei, SimHei, sans-serif&quot; x=&quot;735&quot; y=&quot;118&quot; text-anchor=&quot;middle&quot; font-size=&quot;13.5&quot; fill=&quot;#444441&quot;&gt;近存储处理 NSP&lt;/text&gt;&#10;        &lt;text font-family=&quot;Microsoft YaHei, SimHei, sans-serif&quot; x=&quot;735&quot; y=&quot;144&quot; text-anchor=&quot;middle&quot; font-size=&quot;13.5&quot; fill=&quot;#444441&quot;&gt;把计算搬到存储(SSD)旁&lt;/text&gt;&#10;        &lt;text font-family=&quot;Microsoft YaHei, SimHei, sans-serif&quot; x=&quot;735&quot; y=&quot;170&quot; text-anchor=&quot;middle&quot; font-size=&quot;13.5&quot; fill=&quot;#444441&quot;&gt;就地算、只回传结果&lt;/text&gt;&#10;        &lt;text font-family=&quot;Microsoft YaHei, SimHei, sans-serif&quot; x=&quot;735&quot; y=&quot;216&quot; text-anchor=&quot;middle&quot; font-size=&quot;15&quot; font-weight=&quot;bold&quot; fill=&quot;#B8860B&quot;&gt;带宽更高 · 延迟更低 · 容量更大&lt;/text&gt;&#10;        &lt;text font-family=&quot;Microsoft YaHei, SimHei, sans-serif&quot; x=&quot;735&quot; y=&quot;306&quot; text-anchor=&quot;middle&quot; font-size=&quot;12&quot; fill=&quot;#7A8AA0&quot;&gt;详见 P06&lt;/text&gt;&#10;&#10;        &lt;line x1=&quot;868&quot; y1=&quot;180&quot; x2=&quot;892&quot; y2=&quot;180&quot; stroke=&quot;#5F5E5A&quot; stroke-width=&quot;2&quot; marker-end=&quot;url(#hArrow)&quot;/&gt;&#10;&#10;        &lt;rect x=&quot;894&quot; y=&quot;30&quot; width=&quot;262&quot; height=&quot;300&quot; rx=&quot;12&quot; fill=&quot;#EAF3DE&quot; stroke=&quot;#3B6D11&quot; stroke-width=&quot;1.5&quot;/&gt;&#10;        &lt;text font-family=&quot;Microsoft YaHei, SimHei, sans-serif&quot; x=&quot;1025&quot; y=&quot;64&quot; text-anchor=&quot;middle&quot; font-size=&quot;18&quot; font-weight=&quot;bold&quot; fill=&quot;#27500A&quot;&gt;④ HILOS 方案&lt;/text&gt;&#10;        &lt;line x1=&quot;914&quot; y1=&quot;82&quot; x2=&quot;1136&quot; y2=&quot;82&quot; stroke=&quot;#B9D49A&quot; stroke-width=&quot;1&quot;/&gt;&#10;        &lt;text font-family=&quot;Microsoft YaHei, SimHei, sans-serif&quot; x=&quot;1025&quot; y=&quot;118&quot; text-anchor=&quot;middle&quot; font-size=&quot;13.5&quot; fill=&quot;#444441&quot;&gt;16x SmartSSD 就地算注意力&lt;/text&gt;&#10;        &lt;text font-family=&quot;Microsoft YaHei, SimHei, sans-serif&quot; x=&quot;1025&quot; y=&quot;144&quot; text-anchor=&quot;middle&quot; font-size=&quot;13.5&quot; fill=&quot;#444441&quot;&gt;协同缓存 + 延迟回写&lt;/text&gt;&#10;        &lt;text font-family=&quot;Microsoft YaHei, SimHei, sans-serif&quot; x=&quot;1025&quot; y=&quot;170&quot; text-anchor=&quot;middle&quot; font-size=&quot;13.5&quot; fill=&quot;#444441&quot;&gt;专用注意力加速器&lt;/text&gt;&#10;        &lt;text font-family=&quot;Microsoft YaHei, SimHei, sans-serif&quot; x=&quot;1025&quot; y=&quot;216&quot; text-anchor=&quot;middle&quot; font-size=&quot;15&quot; font-weight=&quot;bold&quot; fill=&quot;#3B6D11&quot;&gt;互连/闪存流量大减&lt;/text&gt;&#10;        &lt;text font-family=&quot;Microsoft YaHei, SimHei, sans-serif&quot; x=&quot;1025&quot; y=&quot;306&quot; text-anchor=&quot;middle&quot; font-size=&quot;12&quot; fill=&quot;#7A8AA0&quot;&gt;详见 P08-13&lt;/text&gt;&#10;&#10;        &lt;rect x=&quot;24&quot; y=&quot;356&quot; width=&quot;1132&quot; height=&quot;64&quot; rx=&quot;10&quot; fill=&quot;#185FA5&quot;/&gt;&#10;        &lt;text font-family=&quot;Microsoft YaHei, SimHei, sans-serif&quot; x=&quot;44&quot; y=&quot;396&quot; text-anchor=&quot;start&quot; font-size=&quot;18&quot; font-weight=&quot;bold&quot; fill=&quot;#FFFFFF&quot;&gt;效果：实测最高 7.86x 加速（P15）&lt;/text&gt;&#10;        &lt;text font-family=&quot;Microsoft YaHei, SimHei, sans-serif&quot; x=&quot;700&quot; y=&quot;396&quot; text-anchor=&quot;start&quot; font-size=&quot;15&quot; fill=&quot;#DCE6F7&quot;&gt;一句话：不是算得慢，是搬得慢——让计算靠近数据。&lt;/text&gt;&#10;      &lt;/svg&gt;&#10;    &lt;/Box&gt;&#10;  &lt;/Box&gt;&#10;  &lt;Box style={{ height:56, paddingLeft:48, paddingRight:48, display:'flex', flexDirection:'row', justifyContent:'space-between', alignItems:'center', borderTop:'1px solid #D6DCE5' }}&gt;&#10;    &lt;Text style={{ fontSize:14, color:'#8B97A8' }}&gt;HILOS · 长上下文 LLM 近存储推理&lt;/Text&gt;&#10;    &lt;Text style={{ fontSize:15, fontWeight:'bold', color:'#1E4FA8' }}&gt;1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0" y="0"/>
            <a:ext cx="12192000" cy="857250"/>
          </a:xfrm>
          <a:custGeom>
            <a:pathLst>
              <a:path w="1280" h="90">
                <a:moveTo>
                  <a:pt x="0" y="88"/>
                </a:moveTo>
                <a:lnTo>
                  <a:pt x="1280" y="88"/>
                </a:lnTo>
                <a:lnTo>
                  <a:pt x="1280" y="90"/>
                </a:lnTo>
                <a:lnTo>
                  <a:pt x="0" y="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57200" y="219075"/>
            <a:ext cx="1127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总结</a:t>
            </a:r>
            <a:r>
              <a:rPr lang="en-US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150">
                <a:solidFill>
                  <a:srgbClr val="3D7BD9"/>
                </a:solidFill>
                <a:latin typeface="Microsoft YaHei"/>
                <a:ea typeface="Microsoft YaHei"/>
              </a:rPr>
              <a:t>全文回顾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57200" y="390525"/>
            <a:ext cx="11277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一张图回顾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HILOS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：背景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问题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思路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方案</a:t>
            </a:r>
            <a:r>
              <a:rPr lang="en-US" sz="23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-&gt; </a:t>
            </a:r>
            <a:r>
              <a:rPr lang="zh-CN" sz="2325" b="1">
                <a:solidFill>
                  <a:srgbClr val="1E4FA8"/>
                </a:solidFill>
                <a:latin typeface="Microsoft YaHei"/>
                <a:ea typeface="Microsoft YaHei"/>
              </a:rPr>
              <a:t>效果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724400" y="11334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F6B7A"/>
                </a:solidFill>
                <a:latin typeface="Microsoft YaHei"/>
                <a:ea typeface="Microsoft YaHei"/>
              </a:rPr>
              <a:t>讲完了，把所有内容收回到这一条主线上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76250" y="1419225"/>
            <a:ext cx="11239500" cy="4762500"/>
          </a:xfrm>
          <a:prstGeom prst="roundRect">
            <a:avLst>
              <a:gd name="adj" fmla="val 2400"/>
            </a:avLst>
          </a:prstGeom>
          <a:solidFill>
            <a:srgbClr val="F7FAFE"/>
          </a:solidFill>
          <a:ln w="12700">
            <a:solidFill>
              <a:srgbClr val="E2E8F2"/>
            </a:solidFill>
            <a:prstDash val="solid"/>
          </a:ln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19125" y="1762125"/>
            <a:ext cx="10953750" cy="4076700"/>
          </a:xfrm>
          <a:prstGeom prst="rect">
            <a:avLst/>
          </a:prstGeom>
          <a:ln/>
        </p:spPr>
      </p:pic>
      <p:sp>
        <p:nvSpPr>
          <p:cNvPr id="16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7200" y="6515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HILOS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长上下文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近存储推理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220450" y="65151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2026-10-18T17:27:00Z</dcterms:created>
  <dcterms:modified xsi:type="dcterms:W3CDTF">2026-10-18T17:27:00Z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{"AIGC":{"Label":"1","ContentProducer":"00119111010856365494821B355","ProduceID":"01a14981a1517d06b605ca31b994481f","ReservedCode1":"","ContentPropagator":"00119111010856365494821B355","PropagateID":"01a14981a1517d06b605ca31b994481f","ReservedCode2":""}}</vt:lpwstr>
  </property>
</Properties>
</file>